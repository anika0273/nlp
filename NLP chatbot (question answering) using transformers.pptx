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75"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19"/>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F5D488B-57C8-4DB3-8B99-962BA5535B3B}">
  <a:tblStyle styleId="{0F5D488B-57C8-4DB3-8B99-962BA5535B3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5780"/>
    <p:restoredTop sz="62041"/>
  </p:normalViewPr>
  <p:slideViewPr>
    <p:cSldViewPr snapToGrid="0">
      <p:cViewPr varScale="1">
        <p:scale>
          <a:sx n="58" d="100"/>
          <a:sy n="58" d="100"/>
        </p:scale>
        <p:origin x="192" y="90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46" d="100"/>
          <a:sy n="146" d="100"/>
        </p:scale>
        <p:origin x="5040"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Good Afternoon Everyone, My name is Anika and today I’ll share with you my project which is to build a medical question-answering chatbot using NLP transformers. This project is my first step in this field of NLP and I’ll go over the steps I took to build this chatbot and the potential I see in this technology in </a:t>
            </a:r>
            <a:r>
              <a:rPr lang="en-US"/>
              <a:t>today’s presentation.</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9ab8548f41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9ab8548f41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This is the agenda that I’ll be discussing for today’s presentation. First I’ll start with the introduction to chatbot and the type of chatbot I’ve decided to build. Next I’ll go over the datasets I have used and the transfer models I have chosen to build this chatbot. Next I’ll go over the Overview of approach, the method or the design of my project. There are multiple options to choose from to build this type of chatbot and I‘ll go over them and will discuss why I chose my method. I will explain the Technical Challenges and solution, the Goal for this project, the result I have achieved and possible future enhancement and finally conclusion.</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9ab8548f41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9ab8548f41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So what is a chatbot? As we all know chatbot is a software application designed to simulate human-like conversation with users, either through text or voice interaction. They are programmed to understand, interpret and respond to user questions and queries. There are rule based chatbot and some advanced chatbot that can learn through user interactions. We can also divide the chatbot into 2 categories: extractive and generative. my main focus of this project was to develop an extractive question-answering chatbot tailored for the medical field. This type of chatbot will not generate new text but will get answer from its current knowledge base.</a:t>
            </a:r>
            <a:br>
              <a:rPr lang="en" sz="1200" dirty="0">
                <a:solidFill>
                  <a:schemeClr val="dk1"/>
                </a:solidFill>
                <a:latin typeface="Calibri"/>
                <a:ea typeface="Calibri"/>
                <a:cs typeface="Calibri"/>
                <a:sym typeface="Calibri"/>
              </a:rPr>
            </a:b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To build this extractive chatbot, I have used transformers models, as we already know that the transformers have revolutionized the field of natural language processing for their unique architecture and for handling complex language tasks. So why transformers are special? it is because unlike the previous NLP models, transformers can process entire sequences of text at once, rather than one word at a time. This allows them to understand context and the relationship between words in a sentence. Transformers are also very effective at capturing long-range dependencies in text. They can understand the relationship between words that are far apart in a sentence or document, which was a challenge for earlier models like RNNs and LSTMs. Also Transformers are highly scalable and more importantly they are often pre-trained on large corpus, so we do not have to start from scratch. And we can fine-tune then for our specific tasks. </a:t>
            </a: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Also there are multiple benefits of using chatbots in any field basically. I was particularly interested to build a medical assistant chatbot which is mostly for general purpose because </a:t>
            </a:r>
            <a:r>
              <a:rPr lang="en" sz="1200" dirty="0" err="1">
                <a:solidFill>
                  <a:schemeClr val="dk1"/>
                </a:solidFill>
                <a:latin typeface="Calibri"/>
                <a:ea typeface="Calibri"/>
                <a:cs typeface="Calibri"/>
                <a:sym typeface="Calibri"/>
              </a:rPr>
              <a:t>i</a:t>
            </a:r>
            <a:r>
              <a:rPr lang="en" sz="1200" dirty="0">
                <a:solidFill>
                  <a:schemeClr val="dk1"/>
                </a:solidFill>
                <a:latin typeface="Calibri"/>
                <a:ea typeface="Calibri"/>
                <a:cs typeface="Calibri"/>
                <a:sym typeface="Calibri"/>
              </a:rPr>
              <a:t> thought it could be very beneficial application in this particular field. For example Chatbots can be accessible 24/7 if we can scale it properly, which can provide information to providers and patients anytime outside office hours, It can also handle large volume of queries that can reduce the wait times and can assist the healthcare professionals, it can also provide immediate response for basic queries and symptoms, and finally overall it just can be an educational tool.</a:t>
            </a:r>
            <a:endParaRPr sz="12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dirty="0">
              <a:solidFill>
                <a:schemeClr val="dk1"/>
              </a:solidFill>
              <a:latin typeface="Calibri"/>
              <a:ea typeface="Calibri"/>
              <a:cs typeface="Calibri"/>
              <a:sym typeface="Calibri"/>
            </a:endParaRPr>
          </a:p>
          <a:p>
            <a:pPr marL="0" lvl="0" indent="0" algn="l" rtl="0">
              <a:spcBef>
                <a:spcPts val="0"/>
              </a:spcBef>
              <a:spcAft>
                <a:spcPts val="0"/>
              </a:spcAft>
              <a:buNone/>
            </a:pPr>
            <a:r>
              <a:rPr lang="en" sz="1200" dirty="0">
                <a:solidFill>
                  <a:schemeClr val="dk1"/>
                </a:solidFill>
                <a:latin typeface="Calibri"/>
                <a:ea typeface="Calibri"/>
                <a:cs typeface="Calibri"/>
                <a:sym typeface="Calibri"/>
              </a:rPr>
              <a:t>There are also some challenges dealing with a special area where domain knowledge and accuracy of information is very important. So I have used a special transformer for this project that can bridge the gap between general knowledge and practical healthcare application.</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9ab8548f41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9ab8548f41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In this slide I will discuss the dataset I have used for my project. So, the main dataset I used is called the BioASQ dataset, this is specifically designed for biomedical NLP task and information retrieval. I chose this dataset because this dataset structure is similar to the squad dataset that we use to train for question answering task. While the squad dataset is used for general purpose this BioASQ dataset is specifically tailored to the biomedical field. Also Like the SQUAD dataset its structure consists of a question-answer pairs. And most importantly its content is focused on biomedical topics, including diseases, treatments, biological processes, and medical research. This dataset includes a variety of question types like factoid, list, yes/no, summary along with their corresponding answers and relevant articles from biomedical literature. So to explain what a factoid type question is that it's basically refers to queries that seeks very particular or concise factual answers. This may be a specific detail like dates, names, or places. For example, a factoid question might be, "Who was the first person to walk on the Moon?" to which the factoid answer would be "Neil Armstrong."</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r>
              <a:rPr lang="en" sz="1200" dirty="0">
                <a:solidFill>
                  <a:schemeClr val="dk1"/>
                </a:solidFill>
                <a:latin typeface="Calibri"/>
                <a:ea typeface="Calibri"/>
                <a:cs typeface="Calibri"/>
                <a:sym typeface="Calibri"/>
              </a:rPr>
              <a:t>The answers in this dataset are derived from sources like PubMed articles, which provides a real-world and up-to-date medical knowledge. And the dataset is gets updated every year.</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a1ff96c9a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a1ff96c9a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So to sum it up, this dataset is an invaluable resource for developing and testing NLP models that are intended to be used in medical and healthcare-related applications. this dataset is also publicly available. if you just google BioASQ dataset it'll take you to their official website, then you can create an account and access the dataset for free.</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So, The BioASQ website offers various datasets organized by different tasks as you can see in this slide, each task is tailored to specific aspects of biomedical natural language processing (NLP) and information retrieval.</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There are task A, B, C etc.</a:t>
            </a:r>
            <a:endParaRPr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the first one is the Datasets for Task A (Semantic Indexing)</a:t>
            </a:r>
            <a:endParaRPr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These datasets are designed for automatically assigning semantic labels or indexes to biomedical documents, such as journal articles. This task is essential for organizing and retrieving information in large biomedical databases.</a:t>
            </a:r>
            <a:endParaRPr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Datasets for Task B (Biomedical Question Answering) which I used for my chatbot, includes questions and their corresponding answers, which can be factual, list-based, yes/no, or summary type, it also contains the relevant biomedical documents or articles.</a:t>
            </a:r>
            <a:endParaRPr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Then the next task is specifically focused on semantic indexing but in the Spanish language.</a:t>
            </a:r>
            <a:endParaRPr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Task C datasets are typically used for more advanced biomedical question-answering challenges, which may include complex queries requiring detailed and nuanced responses.</a:t>
            </a:r>
            <a:endParaRPr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Datasets for Task Synergy</a:t>
            </a:r>
            <a:endParaRPr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These datasets are designed for challenges that combine semantic indexing and question answering, to create more comprehensive and integrated systems.</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 tried a take a picture of the actual dataset. so the dataset is basically a list of dictionaries, where each dictionary in the list is basically the question-answer pair with their relevant information. And in this slide, I tried to fit in just one dictionary that is the question-answer pair. But the actual dataset is pretty huge, to give you an idea the actual question is under the key ‘body’ and there are ‘ideal answer’ and ‘exact answer’. The context part that we will be needing for training is under the key ‘snippet’ on the right side which is also a list that contains all the relevant source information, the ‘text’ part is basically the context information.</a:t>
            </a:r>
          </a:p>
        </p:txBody>
      </p:sp>
    </p:spTree>
    <p:extLst>
      <p:ext uri="{BB962C8B-B14F-4D97-AF65-F5344CB8AC3E}">
        <p14:creationId xmlns:p14="http://schemas.microsoft.com/office/powerpoint/2010/main" val="2653130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a1ff96c9a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a1ff96c9a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latin typeface="Calibri"/>
                <a:ea typeface="Calibri"/>
                <a:cs typeface="Calibri"/>
                <a:sym typeface="Calibri"/>
              </a:rPr>
              <a:t>To prepare this kind of dataset for training can be very time consuming if they are not publicly available. So </a:t>
            </a:r>
            <a:r>
              <a:rPr lang="en-US" sz="1200" dirty="0">
                <a:solidFill>
                  <a:schemeClr val="dk1"/>
                </a:solidFill>
                <a:latin typeface="Calibri"/>
                <a:ea typeface="Calibri"/>
                <a:cs typeface="Calibri"/>
                <a:sym typeface="Calibri"/>
              </a:rPr>
              <a:t>I</a:t>
            </a:r>
            <a:r>
              <a:rPr lang="en" sz="1200" dirty="0">
                <a:solidFill>
                  <a:schemeClr val="dk1"/>
                </a:solidFill>
                <a:latin typeface="Calibri"/>
                <a:ea typeface="Calibri"/>
                <a:cs typeface="Calibri"/>
                <a:sym typeface="Calibri"/>
              </a:rPr>
              <a:t> wanted to see if I can do something with regular text type information without any formatting, So I wanted to implement PDF type documents related to medical field, as most up-to date-documents like research paper and other information are generally found in the PDF format. </a:t>
            </a:r>
            <a:r>
              <a:rPr lang="en-US" sz="1200" dirty="0">
                <a:solidFill>
                  <a:schemeClr val="dk1"/>
                </a:solidFill>
                <a:latin typeface="Calibri"/>
                <a:ea typeface="Calibri"/>
                <a:cs typeface="Calibri"/>
                <a:sym typeface="Calibri"/>
              </a:rPr>
              <a:t>F</a:t>
            </a:r>
            <a:r>
              <a:rPr lang="en" sz="1200" dirty="0">
                <a:solidFill>
                  <a:schemeClr val="dk1"/>
                </a:solidFill>
                <a:latin typeface="Calibri"/>
                <a:ea typeface="Calibri"/>
                <a:cs typeface="Calibri"/>
                <a:sym typeface="Calibri"/>
              </a:rPr>
              <a:t>or my project I have a used a pdf file called current essentials of medicine which is also free to download from google. And this handbook has over 600 pages that offers "nutshell" information on the diagnosis and treatment of more than 500 medical disorders seen in both primary care and hospital settings.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9ab8548f41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9ab8548f41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Next is Transfer Model selection. It is very important to choose the right transformer model that can balance between the performance needs and available resources which is limited in most cases. The Transfer Model I chose for this project is the BERT Transformer model and its variants. As the goal of my project is to build an extractive question-answering chatbot, BERT can be considered the most suitable choices and it has several reasons. </a:t>
            </a: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first is understanding context from both sides, BERT uses bidirectional encoders to understand the context and depth of natural language. Consider BERT as a stack of transformers placed on top of each other- and each of these transformers help understand the text better so the more units you have the more it understands the language. Also, inside each transformer layer, there's something called an 'attention mechanism'. This helps BERT focus on important parts of a sentence and understand how words relate to each other within the sentence. Next is that it is pre-trained on a lot of data and it is relatively easier to fine-tune. </a:t>
            </a: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There are other transformer models that can be used to question-answering tasks but BERT is relatively smaller model. </a:t>
            </a:r>
            <a:r>
              <a:rPr lang="en-US" sz="1200" dirty="0">
                <a:solidFill>
                  <a:schemeClr val="dk1"/>
                </a:solidFill>
                <a:latin typeface="Calibri"/>
                <a:ea typeface="Calibri"/>
                <a:cs typeface="Calibri"/>
                <a:sym typeface="Calibri"/>
              </a:rPr>
              <a:t>T</a:t>
            </a:r>
            <a:r>
              <a:rPr lang="en" sz="1200" dirty="0">
                <a:solidFill>
                  <a:schemeClr val="dk1"/>
                </a:solidFill>
                <a:latin typeface="Calibri"/>
                <a:ea typeface="Calibri"/>
                <a:cs typeface="Calibri"/>
                <a:sym typeface="Calibri"/>
              </a:rPr>
              <a:t>here are other transformer models that are more sophisticates like GPT and Roberta. Roberta is also a variant of BERT that was trained on more data with longer sequence and then GPT was developed by </a:t>
            </a:r>
            <a:r>
              <a:rPr lang="en" sz="1200" dirty="0" err="1">
                <a:solidFill>
                  <a:schemeClr val="dk1"/>
                </a:solidFill>
                <a:latin typeface="Calibri"/>
                <a:ea typeface="Calibri"/>
                <a:cs typeface="Calibri"/>
                <a:sym typeface="Calibri"/>
              </a:rPr>
              <a:t>OpenAI</a:t>
            </a:r>
            <a:r>
              <a:rPr lang="en" sz="1200" dirty="0">
                <a:solidFill>
                  <a:schemeClr val="dk1"/>
                </a:solidFill>
                <a:latin typeface="Calibri"/>
                <a:ea typeface="Calibri"/>
                <a:cs typeface="Calibri"/>
                <a:sym typeface="Calibri"/>
              </a:rPr>
              <a:t> for generative tasks. As I am building an extractive question-answering chatbot, where I have to extract specific answer from larger text BERT seemed like a better choice because of its ability to understand words in full context. </a:t>
            </a:r>
            <a:r>
              <a:rPr lang="en-US" sz="1200" dirty="0">
                <a:solidFill>
                  <a:schemeClr val="dk1"/>
                </a:solidFill>
                <a:latin typeface="Calibri"/>
                <a:ea typeface="Calibri"/>
                <a:cs typeface="Calibri"/>
                <a:sym typeface="Calibri"/>
              </a:rPr>
              <a:t>I</a:t>
            </a:r>
            <a:r>
              <a:rPr lang="en" sz="1200" dirty="0">
                <a:solidFill>
                  <a:schemeClr val="dk1"/>
                </a:solidFill>
                <a:latin typeface="Calibri"/>
                <a:ea typeface="Calibri"/>
                <a:cs typeface="Calibri"/>
                <a:sym typeface="Calibri"/>
              </a:rPr>
              <a:t>t can understand the how the position of a word works because of it’s bidirectional method unlike some models that just consider text in one direction. Secondly as it is already pre-trained on a lot of data, so it comes with a lot of knowledge about language and how the words are typically used in a sentence. And when it's time to answer questions, BERT can use this knowledge to better understand and find answers. If we want to teach BERT more about a particular topic, like medicine or law, we can do so by fine-tuning, which makes BERT even better at answering questions related to these areas. Finally, it’s good at pulling out information. For example, Extractive question-answering is like a treasure hunt for specific words or phrases in a text that answer a question. BERT excels at this because it's good at pinpointing the exact part of the text where the answer lies, it is because of its deep understanding of language context.</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62ae04179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62ae04179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solidFill>
                  <a:schemeClr val="dk1"/>
                </a:solidFill>
                <a:latin typeface="Calibri"/>
                <a:ea typeface="Calibri"/>
                <a:cs typeface="Calibri"/>
                <a:sym typeface="Calibri"/>
              </a:rPr>
              <a:t>I have also used a variant of the BERT model called </a:t>
            </a:r>
            <a:r>
              <a:rPr lang="en-US" sz="1100" dirty="0" err="1">
                <a:solidFill>
                  <a:schemeClr val="dk1"/>
                </a:solidFill>
                <a:latin typeface="Calibri"/>
                <a:ea typeface="Calibri"/>
                <a:cs typeface="Calibri"/>
                <a:sym typeface="Calibri"/>
              </a:rPr>
              <a:t>BioBERT</a:t>
            </a:r>
            <a:r>
              <a:rPr lang="en-US" sz="1100" dirty="0">
                <a:solidFill>
                  <a:schemeClr val="dk1"/>
                </a:solidFill>
                <a:latin typeface="Calibri"/>
                <a:ea typeface="Calibri"/>
                <a:cs typeface="Calibri"/>
                <a:sym typeface="Calibri"/>
              </a:rPr>
              <a:t> which is on top of general data it is specifically pre-trained on large scale medical corpora. This is like an additional layer. This slide shows a comparison between BERT and </a:t>
            </a:r>
            <a:r>
              <a:rPr lang="en-US" sz="1100" dirty="0" err="1">
                <a:solidFill>
                  <a:schemeClr val="dk1"/>
                </a:solidFill>
                <a:latin typeface="Calibri"/>
                <a:ea typeface="Calibri"/>
                <a:cs typeface="Calibri"/>
                <a:sym typeface="Calibri"/>
              </a:rPr>
              <a:t>BioBERT</a:t>
            </a:r>
            <a:r>
              <a:rPr lang="en-US" sz="1100" dirty="0">
                <a:solidFill>
                  <a:schemeClr val="dk1"/>
                </a:solidFill>
                <a:latin typeface="Calibri"/>
                <a:ea typeface="Calibri"/>
                <a:cs typeface="Calibri"/>
                <a:sym typeface="Calibri"/>
              </a:rPr>
              <a:t>. One thing to note from this slide is that </a:t>
            </a:r>
            <a:r>
              <a:rPr lang="en-US" sz="1100" dirty="0" err="1">
                <a:solidFill>
                  <a:schemeClr val="dk1"/>
                </a:solidFill>
                <a:latin typeface="Calibri"/>
                <a:ea typeface="Calibri"/>
                <a:cs typeface="Calibri"/>
                <a:sym typeface="Calibri"/>
              </a:rPr>
              <a:t>BioBERT</a:t>
            </a:r>
            <a:r>
              <a:rPr lang="en-US" sz="1100" dirty="0">
                <a:solidFill>
                  <a:schemeClr val="dk1"/>
                </a:solidFill>
                <a:latin typeface="Calibri"/>
                <a:ea typeface="Calibri"/>
                <a:cs typeface="Calibri"/>
                <a:sym typeface="Calibri"/>
              </a:rPr>
              <a:t> is not necessarily "bigger" than BERT in terms of its architecture or the number of parameters. </a:t>
            </a:r>
            <a:r>
              <a:rPr lang="en-US" sz="1100" dirty="0" err="1">
                <a:solidFill>
                  <a:schemeClr val="dk1"/>
                </a:solidFill>
                <a:latin typeface="Calibri"/>
                <a:ea typeface="Calibri"/>
                <a:cs typeface="Calibri"/>
                <a:sym typeface="Calibri"/>
              </a:rPr>
              <a:t>BioBERT</a:t>
            </a:r>
            <a:r>
              <a:rPr lang="en-US" sz="1100" dirty="0">
                <a:solidFill>
                  <a:schemeClr val="dk1"/>
                </a:solidFill>
                <a:latin typeface="Calibri"/>
                <a:ea typeface="Calibri"/>
                <a:cs typeface="Calibri"/>
                <a:sym typeface="Calibri"/>
              </a:rPr>
              <a:t> is essentially a version of BERT that has been further trained (or fine-tuned) on biomedical text. The core architecture of </a:t>
            </a:r>
            <a:r>
              <a:rPr lang="en-US" sz="1100" dirty="0" err="1">
                <a:solidFill>
                  <a:schemeClr val="dk1"/>
                </a:solidFill>
                <a:latin typeface="Calibri"/>
                <a:ea typeface="Calibri"/>
                <a:cs typeface="Calibri"/>
                <a:sym typeface="Calibri"/>
              </a:rPr>
              <a:t>BioBERT</a:t>
            </a:r>
            <a:r>
              <a:rPr lang="en-US" sz="1100" dirty="0">
                <a:solidFill>
                  <a:schemeClr val="dk1"/>
                </a:solidFill>
                <a:latin typeface="Calibri"/>
                <a:ea typeface="Calibri"/>
                <a:cs typeface="Calibri"/>
                <a:sym typeface="Calibri"/>
              </a:rPr>
              <a:t> is the same as that of the original BERT model.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solidFill>
                <a:schemeClr val="dk1"/>
              </a:solidFill>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err="1">
                <a:solidFill>
                  <a:schemeClr val="dk1"/>
                </a:solidFill>
                <a:latin typeface="Calibri"/>
                <a:ea typeface="Calibri"/>
                <a:cs typeface="Calibri"/>
                <a:sym typeface="Calibri"/>
              </a:rPr>
              <a:t>BioBERT</a:t>
            </a:r>
            <a:r>
              <a:rPr lang="en-US" sz="1100" dirty="0">
                <a:solidFill>
                  <a:schemeClr val="dk1"/>
                </a:solidFill>
                <a:latin typeface="Calibri"/>
                <a:ea typeface="Calibri"/>
                <a:cs typeface="Calibri"/>
                <a:sym typeface="Calibri"/>
              </a:rPr>
              <a:t> converts words and sentences into numerical forms (vectors) that capture their meanings. These vectors then go through the transformers, which analyze and reanalyze the text, each time gaining a deeper understanding of the language and context. So, </a:t>
            </a:r>
            <a:r>
              <a:rPr lang="en-US" sz="1100" dirty="0" err="1">
                <a:solidFill>
                  <a:schemeClr val="dk1"/>
                </a:solidFill>
                <a:latin typeface="Calibri"/>
                <a:ea typeface="Calibri"/>
                <a:cs typeface="Calibri"/>
                <a:sym typeface="Calibri"/>
              </a:rPr>
              <a:t>BioBERT</a:t>
            </a:r>
            <a:r>
              <a:rPr lang="en-US" sz="1100" dirty="0">
                <a:solidFill>
                  <a:schemeClr val="dk1"/>
                </a:solidFill>
                <a:latin typeface="Calibri"/>
                <a:ea typeface="Calibri"/>
                <a:cs typeface="Calibri"/>
                <a:sym typeface="Calibri"/>
              </a:rPr>
              <a:t> is pre-trained on a large amount of text data (general English corpus plus biomedical texts), where it learns the basics of the </a:t>
            </a:r>
            <a:r>
              <a:rPr lang="en-US" sz="1100" dirty="0" err="1">
                <a:solidFill>
                  <a:schemeClr val="dk1"/>
                </a:solidFill>
                <a:latin typeface="Calibri"/>
                <a:ea typeface="Calibri"/>
                <a:cs typeface="Calibri"/>
                <a:sym typeface="Calibri"/>
              </a:rPr>
              <a:t>english</a:t>
            </a:r>
            <a:r>
              <a:rPr lang="en-US" sz="1100" dirty="0">
                <a:solidFill>
                  <a:schemeClr val="dk1"/>
                </a:solidFill>
                <a:latin typeface="Calibri"/>
                <a:ea typeface="Calibri"/>
                <a:cs typeface="Calibri"/>
                <a:sym typeface="Calibri"/>
              </a:rPr>
              <a:t> language and biomedical knowledge.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solidFill>
                <a:schemeClr val="dk1"/>
              </a:solidFill>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solidFill>
                  <a:schemeClr val="dk1"/>
                </a:solidFill>
                <a:latin typeface="Calibri"/>
                <a:ea typeface="Calibri"/>
                <a:cs typeface="Calibri"/>
                <a:sym typeface="Calibri"/>
              </a:rPr>
              <a:t>So </a:t>
            </a:r>
            <a:r>
              <a:rPr lang="en-US" sz="1100" dirty="0" err="1">
                <a:solidFill>
                  <a:schemeClr val="dk1"/>
                </a:solidFill>
                <a:latin typeface="Calibri"/>
                <a:ea typeface="Calibri"/>
                <a:cs typeface="Calibri"/>
                <a:sym typeface="Calibri"/>
              </a:rPr>
              <a:t>BioBERT</a:t>
            </a:r>
            <a:r>
              <a:rPr lang="en-US" sz="1100" dirty="0">
                <a:solidFill>
                  <a:schemeClr val="dk1"/>
                </a:solidFill>
                <a:latin typeface="Calibri"/>
                <a:ea typeface="Calibri"/>
                <a:cs typeface="Calibri"/>
                <a:sym typeface="Calibri"/>
              </a:rPr>
              <a:t> is pre-trained on biomedical literature, we will use this model to fine-tune it on the </a:t>
            </a:r>
            <a:r>
              <a:rPr lang="en-US" sz="1100" dirty="0" err="1">
                <a:solidFill>
                  <a:schemeClr val="dk1"/>
                </a:solidFill>
                <a:latin typeface="Calibri"/>
                <a:ea typeface="Calibri"/>
                <a:cs typeface="Calibri"/>
                <a:sym typeface="Calibri"/>
              </a:rPr>
              <a:t>BioASQ</a:t>
            </a:r>
            <a:r>
              <a:rPr lang="en-US" sz="1100" dirty="0">
                <a:solidFill>
                  <a:schemeClr val="dk1"/>
                </a:solidFill>
                <a:latin typeface="Calibri"/>
                <a:ea typeface="Calibri"/>
                <a:cs typeface="Calibri"/>
                <a:sym typeface="Calibri"/>
              </a:rPr>
              <a:t> dataset, which is specifically designed for biomedical question answering. This further enhances its performance in this particular domain. This is like when we trained the SQUAD dataset using the BERT model for question answering. When it's used for a specific task, it undergoes additional training  or fine-tuning to tailor its understanding to that particular task.</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dirty="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9ab8548f41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9ab8548f41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Next slide is the overview of approach, I will discuss how I designed the medical chatbot for my project. We have already worked with question-answering task in this class, where we basically ask the question while providing the related context at the same time after we do the fine-tuning with transformer model and the dataset. But for designing a chatbot I thought that is not convenient if I have to provide the context myself. So I wanted to implement in such a way that when the user asks a questions to the chatbot, it should be able to identify the keyword and find context related to that keyword from the dataset as well. </a:t>
            </a:r>
          </a:p>
          <a:p>
            <a:pPr marL="0" lvl="0" indent="0" algn="l" rtl="0">
              <a:lnSpc>
                <a:spcPct val="115000"/>
              </a:lnSpc>
              <a:spcBef>
                <a:spcPts val="0"/>
              </a:spcBef>
              <a:spcAft>
                <a:spcPts val="0"/>
              </a:spcAft>
              <a:buClr>
                <a:schemeClr val="dk1"/>
              </a:buClr>
              <a:buSzPts val="1100"/>
              <a:buFont typeface="Arial"/>
              <a:buNone/>
            </a:pP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I’ll discuss it more in a minute. So at first, I have trained the BioBERT Transformer model on the BioASQ dataset. Even though I have used google </a:t>
            </a:r>
            <a:r>
              <a:rPr lang="en" sz="1200" dirty="0" err="1">
                <a:solidFill>
                  <a:schemeClr val="dk1"/>
                </a:solidFill>
                <a:latin typeface="Calibri"/>
                <a:ea typeface="Calibri"/>
                <a:cs typeface="Calibri"/>
                <a:sym typeface="Calibri"/>
              </a:rPr>
              <a:t>colab</a:t>
            </a:r>
            <a:r>
              <a:rPr lang="en" sz="1200" dirty="0">
                <a:solidFill>
                  <a:schemeClr val="dk1"/>
                </a:solidFill>
                <a:latin typeface="Calibri"/>
                <a:ea typeface="Calibri"/>
                <a:cs typeface="Calibri"/>
                <a:sym typeface="Calibri"/>
              </a:rPr>
              <a:t> GPU to train the model, it took hours to train one </a:t>
            </a:r>
            <a:r>
              <a:rPr lang="en" sz="1200" dirty="0" err="1">
                <a:solidFill>
                  <a:schemeClr val="dk1"/>
                </a:solidFill>
                <a:latin typeface="Calibri"/>
                <a:ea typeface="Calibri"/>
                <a:cs typeface="Calibri"/>
                <a:sym typeface="Calibri"/>
              </a:rPr>
              <a:t>epoch.One</a:t>
            </a:r>
            <a:r>
              <a:rPr lang="en" sz="1200" dirty="0">
                <a:solidFill>
                  <a:schemeClr val="dk1"/>
                </a:solidFill>
                <a:latin typeface="Calibri"/>
                <a:ea typeface="Calibri"/>
                <a:cs typeface="Calibri"/>
                <a:sym typeface="Calibri"/>
              </a:rPr>
              <a:t> reason is the the BERT model still has a lot of parameters to train and the BioASQ dataset also has a very complex structure to train. That’s why I used one dataset from BioASQ task B for this project for now. The purpose of this training was to train the BioBERT model to understand the complex medical terminologies and context in this particular domain. </a:t>
            </a:r>
          </a:p>
          <a:p>
            <a:pPr marL="0" lvl="0" indent="0" algn="l" rtl="0">
              <a:lnSpc>
                <a:spcPct val="115000"/>
              </a:lnSpc>
              <a:spcBef>
                <a:spcPts val="0"/>
              </a:spcBef>
              <a:spcAft>
                <a:spcPts val="0"/>
              </a:spcAft>
              <a:buClr>
                <a:schemeClr val="dk1"/>
              </a:buClr>
              <a:buSzPts val="1100"/>
              <a:buFont typeface="Arial"/>
              <a:buNone/>
            </a:pP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As I did not get to use the full BioASQ dataset, I have used the current essential of medicine pdf file for training as well, this is just to give the chat bot a bit more knowledge. To handle the PDF dataset, I thought of implementing regular BERT model on the SQUAD dataset for semantic understanding in question-answering tasks. This also gave me a chance to compare the two models to see if one has any advantage over the other. </a:t>
            </a:r>
          </a:p>
          <a:p>
            <a:pPr marL="0" lvl="0" indent="0" algn="l" rtl="0">
              <a:lnSpc>
                <a:spcPct val="115000"/>
              </a:lnSpc>
              <a:spcBef>
                <a:spcPts val="0"/>
              </a:spcBef>
              <a:spcAft>
                <a:spcPts val="0"/>
              </a:spcAft>
              <a:buClr>
                <a:schemeClr val="dk1"/>
              </a:buClr>
              <a:buSzPts val="1100"/>
              <a:buFont typeface="Arial"/>
              <a:buNone/>
            </a:pP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To train BERT models for question-answering tasks, the dataset has to be in a specific format. But from the beginning my main goal was to incorporate large documents or websites to this chatbot, where it can gather its contextual information from. For example if I have multiple documents like PDFs related to a specific domain, then the chatbot should be able to handle it as well. Understanding the semantic meaning from these documents is the main reason behind training the regular BERT model. </a:t>
            </a:r>
          </a:p>
          <a:p>
            <a:pPr marL="0" lvl="0" indent="0" algn="l" rtl="0">
              <a:lnSpc>
                <a:spcPct val="115000"/>
              </a:lnSpc>
              <a:spcBef>
                <a:spcPts val="0"/>
              </a:spcBef>
              <a:spcAft>
                <a:spcPts val="0"/>
              </a:spcAft>
              <a:buClr>
                <a:schemeClr val="dk1"/>
              </a:buClr>
              <a:buSzPts val="1100"/>
              <a:buFont typeface="Arial"/>
              <a:buNone/>
            </a:pP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Because of limited resources I have only included one PDF document in my project, but we can definitely add as many pdfs as we want depending on our resources. So to process this kind of documents I have converted the PDFs into plain text and then converted the whole pdf text into smaller chunks.</a:t>
            </a:r>
          </a:p>
          <a:p>
            <a:pPr marL="0" lvl="0" indent="0" algn="l" rtl="0">
              <a:lnSpc>
                <a:spcPct val="115000"/>
              </a:lnSpc>
              <a:spcBef>
                <a:spcPts val="0"/>
              </a:spcBef>
              <a:spcAft>
                <a:spcPts val="0"/>
              </a:spcAft>
              <a:buClr>
                <a:schemeClr val="dk1"/>
              </a:buClr>
              <a:buSzPts val="1100"/>
              <a:buFont typeface="Arial"/>
              <a:buNone/>
            </a:pP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Now going back to the point where I mentioned the chatbot should be able to retrieve necessary context related to the user queries. For this step I have assigned Id’s to each question-pair in the BioASQ dataset. So when an user asks a question, it’s going to recognize the ID based on the question embedding and grab the context using the ID. But for PDFs it is basically just raw text and their format is not  like question-answer pair like in the </a:t>
            </a:r>
            <a:r>
              <a:rPr lang="en" sz="1200" dirty="0" err="1">
                <a:solidFill>
                  <a:schemeClr val="dk1"/>
                </a:solidFill>
                <a:latin typeface="Calibri"/>
                <a:ea typeface="Calibri"/>
                <a:cs typeface="Calibri"/>
                <a:sym typeface="Calibri"/>
              </a:rPr>
              <a:t>bioasq</a:t>
            </a:r>
            <a:r>
              <a:rPr lang="en" sz="1200" dirty="0">
                <a:solidFill>
                  <a:schemeClr val="dk1"/>
                </a:solidFill>
                <a:latin typeface="Calibri"/>
                <a:ea typeface="Calibri"/>
                <a:cs typeface="Calibri"/>
                <a:sym typeface="Calibri"/>
              </a:rPr>
              <a:t> dataset. So After converting the PDF into raw text I have divided it into chunks, so when the user asks a question, it’ll loop through the chunks and see if it can find any relevant chunks for context. The relevant chunk will be determined by keyword or phrases. So if something like this happen where there are multiple chunks related to the user query then the model will calculate the score for each question-chunk pair, and we will consider the chunk with the highest score.</a:t>
            </a:r>
          </a:p>
          <a:p>
            <a:pPr marL="0" lvl="0" indent="0" algn="l" rtl="0">
              <a:lnSpc>
                <a:spcPct val="115000"/>
              </a:lnSpc>
              <a:spcBef>
                <a:spcPts val="0"/>
              </a:spcBef>
              <a:spcAft>
                <a:spcPts val="0"/>
              </a:spcAft>
              <a:buClr>
                <a:schemeClr val="dk1"/>
              </a:buClr>
              <a:buSzPts val="1100"/>
              <a:buFont typeface="Arial"/>
              <a:buNone/>
            </a:pP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Next I have also considered using Wikipedia for handling some user queries that might not be present in the PDFs or the BioASQ dataset. This is just to unsure the chatbot can handle diverse type of queries. So how this would work is when the user asks a question, the chatbot will request information for that user query and save it as a context. This context can be used to find answers using the BERT model. I have used Wikipedia for this project and although it is not a reliable source, the chatbot will be able to handle most queries and we can definitely implement this idea to access other reliable websites related to the query or any particular domain by making API calls or something similar. This is something that can be further enhanced in future.</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9ab8548f41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9ab8548f41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This slide is just just more bit into detail on how </a:t>
            </a:r>
            <a:r>
              <a:rPr lang="en-US" sz="1200" dirty="0">
                <a:solidFill>
                  <a:schemeClr val="dk1"/>
                </a:solidFill>
                <a:latin typeface="Calibri"/>
                <a:ea typeface="Calibri"/>
                <a:cs typeface="Calibri"/>
                <a:sym typeface="Calibri"/>
              </a:rPr>
              <a:t>I</a:t>
            </a:r>
            <a:r>
              <a:rPr lang="en" sz="1200" dirty="0">
                <a:solidFill>
                  <a:schemeClr val="dk1"/>
                </a:solidFill>
                <a:latin typeface="Calibri"/>
                <a:ea typeface="Calibri"/>
                <a:cs typeface="Calibri"/>
                <a:sym typeface="Calibri"/>
              </a:rPr>
              <a:t> handled the Domain specific data, basically explains how to handle the PDF type data. We can easily convert the PDF content to text using the PyPDF2 library. And as I explained before we break the large text into chunks which will be used as contexts. </a:t>
            </a:r>
            <a:r>
              <a:rPr lang="en-US" sz="1200" dirty="0">
                <a:solidFill>
                  <a:schemeClr val="dk1"/>
                </a:solidFill>
                <a:latin typeface="Calibri"/>
                <a:ea typeface="Calibri"/>
                <a:cs typeface="Calibri"/>
                <a:sym typeface="Calibri"/>
              </a:rPr>
              <a:t>T</a:t>
            </a:r>
            <a:r>
              <a:rPr lang="en" sz="1200" dirty="0">
                <a:solidFill>
                  <a:schemeClr val="dk1"/>
                </a:solidFill>
                <a:latin typeface="Calibri"/>
                <a:ea typeface="Calibri"/>
                <a:cs typeface="Calibri"/>
                <a:sym typeface="Calibri"/>
              </a:rPr>
              <a:t>he size of chunks can be adjusted. </a:t>
            </a:r>
            <a:r>
              <a:rPr lang="en-US" sz="1200" dirty="0">
                <a:solidFill>
                  <a:schemeClr val="dk1"/>
                </a:solidFill>
                <a:latin typeface="Calibri"/>
                <a:ea typeface="Calibri"/>
                <a:cs typeface="Calibri"/>
                <a:sym typeface="Calibri"/>
              </a:rPr>
              <a:t>A</a:t>
            </a:r>
            <a:r>
              <a:rPr lang="en" sz="1200" dirty="0" err="1">
                <a:solidFill>
                  <a:schemeClr val="dk1"/>
                </a:solidFill>
                <a:latin typeface="Calibri"/>
                <a:ea typeface="Calibri"/>
                <a:cs typeface="Calibri"/>
                <a:sym typeface="Calibri"/>
              </a:rPr>
              <a:t>nd</a:t>
            </a:r>
            <a:r>
              <a:rPr lang="en" sz="1200" dirty="0">
                <a:solidFill>
                  <a:schemeClr val="dk1"/>
                </a:solidFill>
                <a:latin typeface="Calibri"/>
                <a:ea typeface="Calibri"/>
                <a:cs typeface="Calibri"/>
                <a:sym typeface="Calibri"/>
              </a:rPr>
              <a:t>, this is like a parameter that we can experiment with. And like </a:t>
            </a:r>
            <a:r>
              <a:rPr lang="en-US" sz="1200" dirty="0">
                <a:solidFill>
                  <a:schemeClr val="dk1"/>
                </a:solidFill>
                <a:latin typeface="Calibri"/>
                <a:ea typeface="Calibri"/>
                <a:cs typeface="Calibri"/>
                <a:sym typeface="Calibri"/>
              </a:rPr>
              <a:t>I</a:t>
            </a:r>
            <a:r>
              <a:rPr lang="en" sz="1200" dirty="0">
                <a:solidFill>
                  <a:schemeClr val="dk1"/>
                </a:solidFill>
                <a:latin typeface="Calibri"/>
                <a:ea typeface="Calibri"/>
                <a:cs typeface="Calibri"/>
                <a:sym typeface="Calibri"/>
              </a:rPr>
              <a:t> mentioned previously we can definitely add as many documents as we want if we have the resources and it is still the same method. Or maybe depending on the application we can structure the text in more organized way like a dictionary.</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9ab8548f41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9ab8548f41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I have also mentioned the intention of using a regular BERT model and utilizing the SQUAD dataset. </a:t>
            </a:r>
            <a:r>
              <a:rPr lang="en-US" sz="1200" dirty="0">
                <a:solidFill>
                  <a:schemeClr val="dk1"/>
                </a:solidFill>
                <a:latin typeface="Calibri"/>
                <a:ea typeface="Calibri"/>
                <a:cs typeface="Calibri"/>
                <a:sym typeface="Calibri"/>
              </a:rPr>
              <a:t>As we already know it is very popular for question answering. And I wanted to use it basically for my PDF dataset, so that this can understand the semantic meaning when I present the context from the pdf file</a:t>
            </a:r>
            <a:r>
              <a:rPr lang="en" sz="1200" dirty="0">
                <a:solidFill>
                  <a:schemeClr val="dk1"/>
                </a:solidFill>
                <a:latin typeface="Calibri"/>
                <a:ea typeface="Calibri"/>
                <a:cs typeface="Calibri"/>
                <a:sym typeface="Calibri"/>
              </a:rPr>
              <a:t>. </a:t>
            </a:r>
          </a:p>
          <a:p>
            <a:pPr marL="0" lvl="0" indent="0" algn="l" rtl="0">
              <a:lnSpc>
                <a:spcPct val="115000"/>
              </a:lnSpc>
              <a:spcBef>
                <a:spcPts val="0"/>
              </a:spcBef>
              <a:spcAft>
                <a:spcPts val="0"/>
              </a:spcAft>
              <a:buClr>
                <a:schemeClr val="dk1"/>
              </a:buClr>
              <a:buSzPts val="1100"/>
              <a:buFont typeface="Arial"/>
              <a:buNone/>
            </a:pP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So when the </a:t>
            </a:r>
            <a:r>
              <a:rPr lang="en" sz="1200" dirty="0" err="1">
                <a:solidFill>
                  <a:schemeClr val="dk1"/>
                </a:solidFill>
                <a:latin typeface="Calibri"/>
                <a:ea typeface="Calibri"/>
                <a:cs typeface="Calibri"/>
                <a:sym typeface="Calibri"/>
              </a:rPr>
              <a:t>bert</a:t>
            </a:r>
            <a:r>
              <a:rPr lang="en" sz="1200" dirty="0">
                <a:solidFill>
                  <a:schemeClr val="dk1"/>
                </a:solidFill>
                <a:latin typeface="Calibri"/>
                <a:ea typeface="Calibri"/>
                <a:cs typeface="Calibri"/>
                <a:sym typeface="Calibri"/>
              </a:rPr>
              <a:t> model is </a:t>
            </a:r>
            <a:r>
              <a:rPr lang="en" sz="1200" dirty="0" err="1">
                <a:solidFill>
                  <a:schemeClr val="dk1"/>
                </a:solidFill>
                <a:latin typeface="Calibri"/>
                <a:ea typeface="Calibri"/>
                <a:cs typeface="Calibri"/>
                <a:sym typeface="Calibri"/>
              </a:rPr>
              <a:t>traind</a:t>
            </a:r>
            <a:r>
              <a:rPr lang="en" sz="1200" dirty="0">
                <a:solidFill>
                  <a:schemeClr val="dk1"/>
                </a:solidFill>
                <a:latin typeface="Calibri"/>
                <a:ea typeface="Calibri"/>
                <a:cs typeface="Calibri"/>
                <a:sym typeface="Calibri"/>
              </a:rPr>
              <a:t> on the squad dataset it’ll take use query and related context as input (which is basically the relevant chunk from the pdf) and determine the answer from the context. BioBERT works the same way. But I just wanted to see if the performance of the two-model given the same query and context differs. As expected the BioBERT gives more concrete and more specific answer while BERT model doesn’t always give the most specific result. It is mostly longer and sometimes the answers are not quite right.</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9ab8548f41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9ab8548f41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I have also discussed the importance of incorporating Wikipedia. The idea was to give the chatbot a little more versatility so that it can answer random questions if it cannot find it in the datasets. And we could use an alternative platform to get more reliable result. The idea was to expand the chatbot’s capability to access external resources if it’s necessary.</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9fe7a3a2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9fe7a3a2e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So there were two options to choose from to build this chatbot as I have discussed previously. I’ll go over the differences in detail:</a:t>
            </a: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An extractive chatbot, like the one I’ve been working on, works by identifying and extracting the most relevant pieces of information from a given text source to answer user queries. this chatbot, for instance, searches through the BioASQ dataset and other integrated resources like PDF documents and Wikipedia to find precise answers. So it cannot answer if it is not in the context. The advantage of this approach is that it is able to provide accurate and specific information, directly sourced from existing content. Which is why I think this type of chatbot are more practical in medical field where providing correct and precise information is more critical </a:t>
            </a:r>
            <a:br>
              <a:rPr lang="en" sz="1200" dirty="0">
                <a:solidFill>
                  <a:schemeClr val="dk1"/>
                </a:solidFill>
                <a:latin typeface="Calibri"/>
                <a:ea typeface="Calibri"/>
                <a:cs typeface="Calibri"/>
                <a:sym typeface="Calibri"/>
              </a:rPr>
            </a:b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On the other hand, generative chatbots functions differently. It can be created using </a:t>
            </a:r>
            <a:r>
              <a:rPr lang="en" sz="1200" dirty="0" err="1">
                <a:solidFill>
                  <a:schemeClr val="dk1"/>
                </a:solidFill>
                <a:latin typeface="Calibri"/>
                <a:ea typeface="Calibri"/>
                <a:cs typeface="Calibri"/>
                <a:sym typeface="Calibri"/>
              </a:rPr>
              <a:t>OpenAI</a:t>
            </a:r>
            <a:r>
              <a:rPr lang="en" sz="1200" dirty="0">
                <a:solidFill>
                  <a:schemeClr val="dk1"/>
                </a:solidFill>
                <a:latin typeface="Calibri"/>
                <a:ea typeface="Calibri"/>
                <a:cs typeface="Calibri"/>
                <a:sym typeface="Calibri"/>
              </a:rPr>
              <a:t> and Large Language Models (LLMs. These type of models generate new responses based on the input they receive. Rather than pulling direct answers from a text, they use their understanding of language and context to create entirely new sentences. It's like having a conversation with an expert who can articulate their own responses based on their knowledge. </a:t>
            </a:r>
          </a:p>
          <a:p>
            <a:pPr marL="0" lvl="0" indent="0" algn="l" rtl="0">
              <a:lnSpc>
                <a:spcPct val="115000"/>
              </a:lnSpc>
              <a:spcBef>
                <a:spcPts val="0"/>
              </a:spcBef>
              <a:spcAft>
                <a:spcPts val="0"/>
              </a:spcAft>
              <a:buClr>
                <a:schemeClr val="dk1"/>
              </a:buClr>
              <a:buSzPts val="1100"/>
              <a:buFont typeface="Arial"/>
              <a:buNone/>
            </a:pP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Generative models are incredibly versatile and can provide more conversational and nuanced replies, which makes them seem more human-like in their interactions.</a:t>
            </a: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Calibri"/>
              <a:ea typeface="Calibri"/>
              <a:cs typeface="Calibri"/>
              <a:sym typeface="Calibri"/>
            </a:endParaRPr>
          </a:p>
          <a:p>
            <a:pPr marL="0" lvl="0" indent="0" algn="l" rtl="0">
              <a:spcBef>
                <a:spcPts val="0"/>
              </a:spcBef>
              <a:spcAft>
                <a:spcPts val="0"/>
              </a:spcAft>
              <a:buNone/>
            </a:pPr>
            <a:r>
              <a:rPr lang="en" sz="1200" dirty="0">
                <a:solidFill>
                  <a:schemeClr val="dk1"/>
                </a:solidFill>
                <a:latin typeface="Calibri"/>
                <a:ea typeface="Calibri"/>
                <a:cs typeface="Calibri"/>
                <a:sym typeface="Calibri"/>
              </a:rPr>
              <a:t>So, why choose an extractive chatbot over a generative one? The answer largely depends on the application and the need for accuracy. In fields like medicine, where the correctness of information is paramount, an extractive chatbot is often more suitable. It reduces the risk of generating incorrect or misleading information, as it relies on existing and verified content. Generative chatbots are impressive in their ability to create more natural responses, but it can sometimes produce answers that are less precise or even factually incorrect, simply because they are not referencing specific data sources.</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9fe7a3a2e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9fe7a3a2e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Another reason to choose BERT model is that Training and running large GPT models (like GPT-3) are generally more resource-heavy than using BERT. GPT-3 has billions of parameters, and it stands out as one of the most resource-intensive models available. </a:t>
            </a:r>
          </a:p>
          <a:p>
            <a:pPr marL="0" lvl="0" indent="0" algn="l" rtl="0">
              <a:lnSpc>
                <a:spcPct val="115000"/>
              </a:lnSpc>
              <a:spcBef>
                <a:spcPts val="0"/>
              </a:spcBef>
              <a:spcAft>
                <a:spcPts val="0"/>
              </a:spcAft>
              <a:buClr>
                <a:schemeClr val="dk1"/>
              </a:buClr>
              <a:buSzPts val="1100"/>
              <a:buFont typeface="Arial"/>
              <a:buNone/>
            </a:pP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While Using BERT, especially pre-trained models and smaller variants, is typically the cheaper option, which can still provide great accuracy with precise answers. </a:t>
            </a:r>
          </a:p>
          <a:p>
            <a:pPr marL="0" lvl="0" indent="0" algn="l" rtl="0">
              <a:lnSpc>
                <a:spcPct val="115000"/>
              </a:lnSpc>
              <a:spcBef>
                <a:spcPts val="0"/>
              </a:spcBef>
              <a:spcAft>
                <a:spcPts val="0"/>
              </a:spcAft>
              <a:buClr>
                <a:schemeClr val="dk1"/>
              </a:buClr>
              <a:buSzPts val="1100"/>
              <a:buFont typeface="Arial"/>
              <a:buNone/>
            </a:pP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Fine-tuning BERT for specific tasks can be done with relatively modest resources. Besides if we want to use GPT models there is usage cost. To access a GPT model we have to send request through an API which is a subscription-based service and not very convenient for small projects. Also, BERT is very effective in understanding of the language context which is crucial for question answering tasks. Also we can use new data or add more data which is a sustainable choice for this kind of projects.</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9fe7a3a2e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9fe7a3a2e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There are some technical challenges and possible solutions. The very first challenge is training huge models like BERT and its variants. Even though I’m just fine tuning the model, I still need GPUs for training and inference. And you still need enough resources to fine-tune model like BERT.</a:t>
            </a:r>
          </a:p>
          <a:p>
            <a:pPr marL="0" lvl="0" indent="0" algn="l" rtl="0">
              <a:lnSpc>
                <a:spcPct val="115000"/>
              </a:lnSpc>
              <a:spcBef>
                <a:spcPts val="0"/>
              </a:spcBef>
              <a:spcAft>
                <a:spcPts val="0"/>
              </a:spcAft>
              <a:buClr>
                <a:schemeClr val="dk1"/>
              </a:buClr>
              <a:buSzPts val="1100"/>
              <a:buFont typeface="Arial"/>
              <a:buNone/>
            </a:pP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For example, to train domain specific dataset like BioASQ I have encountered a significant challenge while fine-tuning the BioASQ dataset using a GPU: it took several hours to complete just one epoch. This experience highlights a common issue in advanced NLP tasks – which is that the computational demands are often substantial. </a:t>
            </a:r>
          </a:p>
          <a:p>
            <a:pPr marL="0" lvl="0" indent="0" algn="l" rtl="0">
              <a:lnSpc>
                <a:spcPct val="115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A</a:t>
            </a:r>
            <a:r>
              <a:rPr lang="en" sz="1200" dirty="0">
                <a:solidFill>
                  <a:schemeClr val="dk1"/>
                </a:solidFill>
                <a:latin typeface="Calibri"/>
                <a:ea typeface="Calibri"/>
                <a:cs typeface="Calibri"/>
                <a:sym typeface="Calibri"/>
              </a:rPr>
              <a:t>s I mentioned before, the root of this challenge lies in the complexity and size of the BioASQ dataset, combined with the intricate architecture of models like BioBERT. These models require substantial computational resources to process vast amounts of text data effectively. </a:t>
            </a: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This is why I have also use the </a:t>
            </a:r>
            <a:r>
              <a:rPr lang="en" sz="1200" dirty="0" err="1">
                <a:solidFill>
                  <a:schemeClr val="dk1"/>
                </a:solidFill>
                <a:latin typeface="Calibri"/>
                <a:ea typeface="Calibri"/>
                <a:cs typeface="Calibri"/>
                <a:sym typeface="Calibri"/>
              </a:rPr>
              <a:t>distilbert</a:t>
            </a:r>
            <a:r>
              <a:rPr lang="en" sz="1200" dirty="0">
                <a:solidFill>
                  <a:schemeClr val="dk1"/>
                </a:solidFill>
                <a:latin typeface="Calibri"/>
                <a:ea typeface="Calibri"/>
                <a:cs typeface="Calibri"/>
                <a:sym typeface="Calibri"/>
              </a:rPr>
              <a:t> model that is fine tuned on the squad dataset for question-answering pipeline for backup. </a:t>
            </a:r>
          </a:p>
          <a:p>
            <a:pPr marL="0" lvl="0" indent="0" algn="l" rtl="0">
              <a:lnSpc>
                <a:spcPct val="115000"/>
              </a:lnSpc>
              <a:spcBef>
                <a:spcPts val="0"/>
              </a:spcBef>
              <a:spcAft>
                <a:spcPts val="0"/>
              </a:spcAft>
              <a:buClr>
                <a:schemeClr val="dk1"/>
              </a:buClr>
              <a:buSzPts val="1100"/>
              <a:buFont typeface="Arial"/>
              <a:buNone/>
            </a:pP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Another important step for training transformer models is Data pre-processing and tokenization, which is often very specific for specific models. This can also be a challenging task especially if you have raw text data that is not structured like squad or BioASQ dataset. Then you have to do some manual work on the raw dataset that can turn plain text data to a question-answer pair structure like squad dataset. There are some opensource software for that, where you can open and account and manually annotate the question and answers. These open source </a:t>
            </a:r>
            <a:r>
              <a:rPr lang="en" sz="1200" dirty="0" err="1">
                <a:solidFill>
                  <a:schemeClr val="dk1"/>
                </a:solidFill>
                <a:latin typeface="Calibri"/>
                <a:ea typeface="Calibri"/>
                <a:cs typeface="Calibri"/>
                <a:sym typeface="Calibri"/>
              </a:rPr>
              <a:t>softwares</a:t>
            </a:r>
            <a:r>
              <a:rPr lang="en" sz="1200" dirty="0">
                <a:solidFill>
                  <a:schemeClr val="dk1"/>
                </a:solidFill>
                <a:latin typeface="Calibri"/>
                <a:ea typeface="Calibri"/>
                <a:cs typeface="Calibri"/>
                <a:sym typeface="Calibri"/>
              </a:rPr>
              <a:t> make the task a lot easier but it is still very tedious. </a:t>
            </a:r>
          </a:p>
          <a:p>
            <a:pPr marL="0" lvl="0" indent="0" algn="l" rtl="0">
              <a:lnSpc>
                <a:spcPct val="115000"/>
              </a:lnSpc>
              <a:spcBef>
                <a:spcPts val="0"/>
              </a:spcBef>
              <a:spcAft>
                <a:spcPts val="0"/>
              </a:spcAft>
              <a:buClr>
                <a:schemeClr val="dk1"/>
              </a:buClr>
              <a:buSzPts val="1100"/>
              <a:buFont typeface="Arial"/>
              <a:buNone/>
            </a:pP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Then if we want to scale our chatbot service integrating to other system might be challenging. We can use APIs and containerization tools like Docker for consistent deployment. But this is not something </a:t>
            </a:r>
            <a:r>
              <a:rPr lang="en-US" sz="1200" dirty="0">
                <a:solidFill>
                  <a:schemeClr val="dk1"/>
                </a:solidFill>
                <a:latin typeface="Calibri"/>
                <a:ea typeface="Calibri"/>
                <a:cs typeface="Calibri"/>
                <a:sym typeface="Calibri"/>
              </a:rPr>
              <a:t>I</a:t>
            </a:r>
            <a:r>
              <a:rPr lang="en" sz="1200" dirty="0">
                <a:solidFill>
                  <a:schemeClr val="dk1"/>
                </a:solidFill>
                <a:latin typeface="Calibri"/>
                <a:ea typeface="Calibri"/>
                <a:cs typeface="Calibri"/>
                <a:sym typeface="Calibri"/>
              </a:rPr>
              <a:t>’ve implemented in my code yet. This is a step beyond this project for now.</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9fe7a3a2e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9fe7a3a2e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So in this slide </a:t>
            </a:r>
            <a:r>
              <a:rPr lang="en-US" sz="1200" dirty="0">
                <a:solidFill>
                  <a:schemeClr val="dk1"/>
                </a:solidFill>
                <a:latin typeface="Calibri"/>
                <a:ea typeface="Calibri"/>
                <a:cs typeface="Calibri"/>
                <a:sym typeface="Calibri"/>
              </a:rPr>
              <a:t>I</a:t>
            </a:r>
            <a:r>
              <a:rPr lang="en" sz="1200" dirty="0">
                <a:solidFill>
                  <a:schemeClr val="dk1"/>
                </a:solidFill>
                <a:latin typeface="Calibri"/>
                <a:ea typeface="Calibri"/>
                <a:cs typeface="Calibri"/>
                <a:sym typeface="Calibri"/>
              </a:rPr>
              <a:t>’ll discuss some of the ideas that I thin we can implement in future. </a:t>
            </a:r>
            <a:r>
              <a:rPr lang="en-US" sz="1200" dirty="0">
                <a:solidFill>
                  <a:schemeClr val="dk1"/>
                </a:solidFill>
                <a:latin typeface="Calibri"/>
                <a:ea typeface="Calibri"/>
                <a:cs typeface="Calibri"/>
                <a:sym typeface="Calibri"/>
              </a:rPr>
              <a:t>F</a:t>
            </a:r>
            <a:r>
              <a:rPr lang="en" sz="1200" dirty="0">
                <a:solidFill>
                  <a:schemeClr val="dk1"/>
                </a:solidFill>
                <a:latin typeface="Calibri"/>
                <a:ea typeface="Calibri"/>
                <a:cs typeface="Calibri"/>
                <a:sym typeface="Calibri"/>
              </a:rPr>
              <a:t>or example, we can integrate more advanced model like GPT for response generation or other variants for BERT model like Roberta that has been trained on more data and has longer dependency, for better result. Or maybe a combination of generative and extractive model for a more sophisticates chatbot.</a:t>
            </a:r>
          </a:p>
          <a:p>
            <a:pPr marL="0" lvl="0" indent="0" algn="l" rtl="0">
              <a:lnSpc>
                <a:spcPct val="115000"/>
              </a:lnSpc>
              <a:spcBef>
                <a:spcPts val="0"/>
              </a:spcBef>
              <a:spcAft>
                <a:spcPts val="0"/>
              </a:spcAft>
              <a:buClr>
                <a:schemeClr val="dk1"/>
              </a:buClr>
              <a:buSzPts val="1100"/>
              <a:buFont typeface="Arial"/>
              <a:buNone/>
            </a:pP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We can also introduce a multi-language support so that it can also support the non-English users. Like we saw in the BioASQ dataset that there is a task in Spanish language. Maybe we can implement that to this chatbot. </a:t>
            </a:r>
          </a:p>
          <a:p>
            <a:pPr marL="0" lvl="0" indent="0" algn="l" rtl="0">
              <a:lnSpc>
                <a:spcPct val="115000"/>
              </a:lnSpc>
              <a:spcBef>
                <a:spcPts val="0"/>
              </a:spcBef>
              <a:spcAft>
                <a:spcPts val="0"/>
              </a:spcAft>
              <a:buClr>
                <a:schemeClr val="dk1"/>
              </a:buClr>
              <a:buSzPts val="1100"/>
              <a:buFont typeface="Arial"/>
              <a:buNone/>
            </a:pP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This chatbot can also be personalized based on user data and information for better interactions. Like it will remember the previous interaction and response and update or customize its answer.</a:t>
            </a:r>
          </a:p>
          <a:p>
            <a:pPr marL="0" lvl="0" indent="0" algn="l" rtl="0">
              <a:lnSpc>
                <a:spcPct val="115000"/>
              </a:lnSpc>
              <a:spcBef>
                <a:spcPts val="0"/>
              </a:spcBef>
              <a:spcAft>
                <a:spcPts val="0"/>
              </a:spcAft>
              <a:buClr>
                <a:schemeClr val="dk1"/>
              </a:buClr>
              <a:buSzPts val="1100"/>
              <a:buFont typeface="Arial"/>
              <a:buNone/>
            </a:pPr>
            <a:br>
              <a:rPr lang="en" sz="1200" dirty="0">
                <a:solidFill>
                  <a:schemeClr val="dk1"/>
                </a:solidFill>
                <a:latin typeface="Calibri"/>
                <a:ea typeface="Calibri"/>
                <a:cs typeface="Calibri"/>
                <a:sym typeface="Calibri"/>
              </a:rPr>
            </a:br>
            <a:r>
              <a:rPr lang="en" sz="1200" dirty="0">
                <a:solidFill>
                  <a:schemeClr val="dk1"/>
                </a:solidFill>
                <a:latin typeface="Calibri"/>
                <a:ea typeface="Calibri"/>
                <a:cs typeface="Calibri"/>
                <a:sym typeface="Calibri"/>
              </a:rPr>
              <a:t>We can also incorporate voice-based queries and for more advanced techniques like image recognition.</a:t>
            </a:r>
            <a:br>
              <a:rPr lang="en" sz="1200" dirty="0">
                <a:solidFill>
                  <a:schemeClr val="dk1"/>
                </a:solidFill>
                <a:latin typeface="Calibri"/>
                <a:ea typeface="Calibri"/>
                <a:cs typeface="Calibri"/>
                <a:sym typeface="Calibri"/>
              </a:rPr>
            </a:b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To keep the chatbot updated and for better user response it should learn continuously and adapt to user feedback. But these are some possible modification that can be done to my existing chatbot, these are not included in my current development.</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9ab8548f41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9ab8548f41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A</a:t>
            </a:r>
            <a:r>
              <a:rPr lang="en" sz="1200" dirty="0" err="1">
                <a:solidFill>
                  <a:schemeClr val="dk1"/>
                </a:solidFill>
                <a:latin typeface="Calibri"/>
                <a:ea typeface="Calibri"/>
                <a:cs typeface="Calibri"/>
                <a:sym typeface="Calibri"/>
              </a:rPr>
              <a:t>nd</a:t>
            </a:r>
            <a:r>
              <a:rPr lang="en" sz="1200" dirty="0">
                <a:solidFill>
                  <a:schemeClr val="dk1"/>
                </a:solidFill>
                <a:latin typeface="Calibri"/>
                <a:ea typeface="Calibri"/>
                <a:cs typeface="Calibri"/>
                <a:sym typeface="Calibri"/>
              </a:rPr>
              <a:t> lastly this slide concludes with the summary of the my key approach and their pros and cons. So the pro of using BioBERT and BioASQ data gives the model domain specific understanding but the con is it requires high computational resources. Then in contrast using DistiBERT is efficient is fast processing but the accuracy is not that great com</a:t>
            </a:r>
            <a:r>
              <a:rPr lang="en-US" sz="1200" dirty="0">
                <a:solidFill>
                  <a:schemeClr val="dk1"/>
                </a:solidFill>
                <a:latin typeface="Calibri"/>
                <a:ea typeface="Calibri"/>
                <a:cs typeface="Calibri"/>
                <a:sym typeface="Calibri"/>
              </a:rPr>
              <a:t>pa</a:t>
            </a:r>
            <a:r>
              <a:rPr lang="en" sz="1200" dirty="0">
                <a:solidFill>
                  <a:schemeClr val="dk1"/>
                </a:solidFill>
                <a:latin typeface="Calibri"/>
                <a:ea typeface="Calibri"/>
                <a:cs typeface="Calibri"/>
                <a:sym typeface="Calibri"/>
              </a:rPr>
              <a:t>red to full BERT model. </a:t>
            </a:r>
            <a:r>
              <a:rPr lang="en-US" sz="1200" dirty="0">
                <a:solidFill>
                  <a:schemeClr val="dk1"/>
                </a:solidFill>
                <a:latin typeface="Calibri"/>
                <a:ea typeface="Calibri"/>
                <a:cs typeface="Calibri"/>
                <a:sym typeface="Calibri"/>
              </a:rPr>
              <a:t>A</a:t>
            </a:r>
            <a:r>
              <a:rPr lang="en" sz="1200" dirty="0" err="1">
                <a:solidFill>
                  <a:schemeClr val="dk1"/>
                </a:solidFill>
                <a:latin typeface="Calibri"/>
                <a:ea typeface="Calibri"/>
                <a:cs typeface="Calibri"/>
                <a:sym typeface="Calibri"/>
              </a:rPr>
              <a:t>nd</a:t>
            </a:r>
            <a:r>
              <a:rPr lang="en" sz="1200" dirty="0">
                <a:solidFill>
                  <a:schemeClr val="dk1"/>
                </a:solidFill>
                <a:latin typeface="Calibri"/>
                <a:ea typeface="Calibri"/>
                <a:cs typeface="Calibri"/>
                <a:sym typeface="Calibri"/>
              </a:rPr>
              <a:t> lastly integrating PDFs and Wikipedia gives the chatbot more flexibil</a:t>
            </a:r>
            <a:r>
              <a:rPr lang="en-US" sz="1200" dirty="0" err="1">
                <a:solidFill>
                  <a:schemeClr val="dk1"/>
                </a:solidFill>
                <a:latin typeface="Calibri"/>
                <a:ea typeface="Calibri"/>
                <a:cs typeface="Calibri"/>
                <a:sym typeface="Calibri"/>
              </a:rPr>
              <a:t>i</a:t>
            </a:r>
            <a:r>
              <a:rPr lang="en" sz="1200" dirty="0">
                <a:solidFill>
                  <a:schemeClr val="dk1"/>
                </a:solidFill>
                <a:latin typeface="Calibri"/>
                <a:ea typeface="Calibri"/>
                <a:cs typeface="Calibri"/>
                <a:sym typeface="Calibri"/>
              </a:rPr>
              <a:t>ty, but there can also be an issue with fact checking and quality control</a:t>
            </a:r>
          </a:p>
          <a:p>
            <a:pPr marL="0" lvl="0" indent="0" algn="l" rtl="0">
              <a:lnSpc>
                <a:spcPct val="115000"/>
              </a:lnSpc>
              <a:spcBef>
                <a:spcPts val="0"/>
              </a:spcBef>
              <a:spcAft>
                <a:spcPts val="0"/>
              </a:spcAft>
              <a:buClr>
                <a:schemeClr val="dk1"/>
              </a:buClr>
              <a:buSzPts val="1100"/>
              <a:buFont typeface="Arial"/>
              <a:buNone/>
            </a:pPr>
            <a:endParaRPr lang="en" sz="1200" dirty="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latin typeface="Calibri"/>
                <a:ea typeface="Calibri"/>
                <a:cs typeface="Calibri"/>
                <a:sym typeface="Calibri"/>
              </a:rPr>
              <a:t>in conclusion, the goal of this project was to build a chatbot by implementing transformers like BERT and its variant BioBERT specifically for answering medical questions. This tool can handle queries related to healthcare and general medical information. If the query or topic already exist in the datasets it’ll retrieve the context from the dataset otherwise it’ll look into Wikipedia. The better the context the better the answer. And with more fine tuning we can always improve the understanding of the task. There are lot of possible improvements that can be done on this and NLP is already a huge deal in the medical field and it’s going to improve even more. Thank you.</a:t>
            </a:r>
          </a:p>
          <a:p>
            <a:pPr marL="0" lvl="0" indent="0" algn="l" rtl="0">
              <a:lnSpc>
                <a:spcPct val="115000"/>
              </a:lnSpc>
              <a:spcBef>
                <a:spcPts val="0"/>
              </a:spcBef>
              <a:spcAft>
                <a:spcPts val="0"/>
              </a:spcAft>
              <a:buClr>
                <a:schemeClr val="dk1"/>
              </a:buClr>
              <a:buSzPts val="1100"/>
              <a:buFont typeface="Arial"/>
              <a:buNone/>
            </a:pPr>
            <a:endParaRPr lang="en-US" sz="1200" dirty="0">
              <a:solidFill>
                <a:schemeClr val="dk1"/>
              </a:solidFill>
              <a:latin typeface="Calibri"/>
              <a:ea typeface="Calibri"/>
              <a:cs typeface="Calibri"/>
              <a:sym typeface="Calibri"/>
            </a:endParaRPr>
          </a:p>
          <a:p>
            <a:pPr marL="0" lvl="0" indent="0" algn="l" rtl="0">
              <a:spcBef>
                <a:spcPts val="0"/>
              </a:spcBef>
              <a:spcAft>
                <a:spcPts val="0"/>
              </a:spcAft>
              <a:buNone/>
            </a:pPr>
            <a:endParaRPr lang="en-US" sz="1200" dirty="0">
              <a:solidFill>
                <a:schemeClr val="dk1"/>
              </a:solidFill>
              <a:latin typeface="Calibri"/>
              <a:ea typeface="Calibri"/>
              <a:cs typeface="Calibri"/>
              <a:sym typeface="Calibri"/>
            </a:endParaRPr>
          </a:p>
          <a:p>
            <a:pPr marL="0" lvl="0" indent="0" algn="l" rtl="0">
              <a:lnSpc>
                <a:spcPct val="95000"/>
              </a:lnSpc>
              <a:spcBef>
                <a:spcPts val="0"/>
              </a:spcBef>
              <a:spcAft>
                <a:spcPts val="0"/>
              </a:spcAft>
              <a:buClr>
                <a:schemeClr val="dk1"/>
              </a:buClr>
              <a:buSzPts val="523"/>
              <a:buFont typeface="Arial"/>
              <a:buNone/>
            </a:pPr>
            <a:r>
              <a:rPr lang="en-US" sz="1200" dirty="0"/>
              <a:t>Key Features:</a:t>
            </a:r>
          </a:p>
          <a:p>
            <a:pPr marL="457200" lvl="0" indent="-302895" algn="l" rtl="0">
              <a:lnSpc>
                <a:spcPct val="95000"/>
              </a:lnSpc>
              <a:spcBef>
                <a:spcPts val="0"/>
              </a:spcBef>
              <a:spcAft>
                <a:spcPts val="0"/>
              </a:spcAft>
              <a:buClr>
                <a:schemeClr val="dk1"/>
              </a:buClr>
              <a:buSzPts val="1170"/>
              <a:buFont typeface="Calibri"/>
              <a:buChar char="●"/>
            </a:pPr>
            <a:r>
              <a:rPr lang="en-US" sz="1200" dirty="0"/>
              <a:t>Integration of BERT and </a:t>
            </a:r>
            <a:r>
              <a:rPr lang="en-US" sz="1200" dirty="0" err="1"/>
              <a:t>BioBERT</a:t>
            </a:r>
            <a:r>
              <a:rPr lang="en-US" sz="1200" dirty="0"/>
              <a:t> for in-depth understanding of medical language.</a:t>
            </a:r>
          </a:p>
          <a:p>
            <a:pPr marL="457200" lvl="0" indent="-302895" algn="l" rtl="0">
              <a:lnSpc>
                <a:spcPct val="95000"/>
              </a:lnSpc>
              <a:spcBef>
                <a:spcPts val="0"/>
              </a:spcBef>
              <a:spcAft>
                <a:spcPts val="0"/>
              </a:spcAft>
              <a:buClr>
                <a:schemeClr val="dk1"/>
              </a:buClr>
              <a:buSzPts val="1170"/>
              <a:buFont typeface="Calibri"/>
              <a:buChar char="●"/>
            </a:pPr>
            <a:r>
              <a:rPr lang="en-US" sz="1200" dirty="0"/>
              <a:t>Capability to process and respond to intricate medical queries accurately.</a:t>
            </a:r>
          </a:p>
          <a:p>
            <a:pPr marL="457200" lvl="0" indent="-302895" algn="l" rtl="0">
              <a:lnSpc>
                <a:spcPct val="95000"/>
              </a:lnSpc>
              <a:spcBef>
                <a:spcPts val="0"/>
              </a:spcBef>
              <a:spcAft>
                <a:spcPts val="0"/>
              </a:spcAft>
              <a:buClr>
                <a:schemeClr val="dk1"/>
              </a:buClr>
              <a:buSzPts val="1170"/>
              <a:buFont typeface="Calibri"/>
              <a:buChar char="●"/>
            </a:pPr>
            <a:r>
              <a:rPr lang="en-US" sz="1200" dirty="0"/>
              <a:t>Utilization of the </a:t>
            </a:r>
            <a:r>
              <a:rPr lang="en-US" sz="1200" dirty="0" err="1"/>
              <a:t>BioASQ</a:t>
            </a:r>
            <a:r>
              <a:rPr lang="en-US" sz="1200" dirty="0"/>
              <a:t> dataset for specialized medical knowledge.</a:t>
            </a:r>
          </a:p>
          <a:p>
            <a:pPr marL="457200" lvl="0" indent="-302895" algn="l" rtl="0">
              <a:lnSpc>
                <a:spcPct val="95000"/>
              </a:lnSpc>
              <a:spcBef>
                <a:spcPts val="0"/>
              </a:spcBef>
              <a:spcAft>
                <a:spcPts val="0"/>
              </a:spcAft>
              <a:buClr>
                <a:schemeClr val="dk1"/>
              </a:buClr>
              <a:buSzPts val="1170"/>
              <a:buFont typeface="Calibri"/>
              <a:buChar char="●"/>
            </a:pPr>
            <a:r>
              <a:rPr lang="en-US" sz="1200" dirty="0"/>
              <a:t>Expansion of knowledge base with domain-specific medical PDFs and Wikipedia data.</a:t>
            </a:r>
          </a:p>
          <a:p>
            <a:pPr marL="0" lvl="0" indent="0" algn="l" rtl="0">
              <a:lnSpc>
                <a:spcPct val="95000"/>
              </a:lnSpc>
              <a:spcBef>
                <a:spcPts val="0"/>
              </a:spcBef>
              <a:spcAft>
                <a:spcPts val="0"/>
              </a:spcAft>
              <a:buClr>
                <a:schemeClr val="dk1"/>
              </a:buClr>
              <a:buSzPts val="523"/>
              <a:buFont typeface="Arial"/>
              <a:buNone/>
            </a:pPr>
            <a:r>
              <a:rPr lang="en-US" sz="1200" dirty="0"/>
              <a:t>Achievements:</a:t>
            </a:r>
          </a:p>
          <a:p>
            <a:pPr marL="457200" lvl="0" indent="-302895" algn="l" rtl="0">
              <a:lnSpc>
                <a:spcPct val="95000"/>
              </a:lnSpc>
              <a:spcBef>
                <a:spcPts val="0"/>
              </a:spcBef>
              <a:spcAft>
                <a:spcPts val="0"/>
              </a:spcAft>
              <a:buClr>
                <a:schemeClr val="dk1"/>
              </a:buClr>
              <a:buSzPts val="1170"/>
              <a:buFont typeface="Calibri"/>
              <a:buChar char="●"/>
            </a:pPr>
            <a:r>
              <a:rPr lang="en-US" sz="1200" dirty="0"/>
              <a:t>Successful application of advanced NLP techniques in a critical healthcare context.</a:t>
            </a:r>
          </a:p>
          <a:p>
            <a:pPr marL="457200" lvl="0" indent="-302895" algn="l" rtl="0">
              <a:lnSpc>
                <a:spcPct val="95000"/>
              </a:lnSpc>
              <a:spcBef>
                <a:spcPts val="0"/>
              </a:spcBef>
              <a:spcAft>
                <a:spcPts val="0"/>
              </a:spcAft>
              <a:buClr>
                <a:schemeClr val="dk1"/>
              </a:buClr>
              <a:buSzPts val="1170"/>
              <a:buFont typeface="Calibri"/>
              <a:buChar char="●"/>
            </a:pPr>
            <a:r>
              <a:rPr lang="en-US" sz="1200" dirty="0"/>
              <a:t>Creation of a reliable and accurate medical information resource for healthcare professionals and patients.</a:t>
            </a:r>
          </a:p>
          <a:p>
            <a:pPr marL="457200" lvl="0" indent="-302895" algn="l" rtl="0">
              <a:lnSpc>
                <a:spcPct val="95000"/>
              </a:lnSpc>
              <a:spcBef>
                <a:spcPts val="0"/>
              </a:spcBef>
              <a:spcAft>
                <a:spcPts val="0"/>
              </a:spcAft>
              <a:buClr>
                <a:schemeClr val="dk1"/>
              </a:buClr>
              <a:buSzPts val="1170"/>
              <a:buFont typeface="Calibri"/>
              <a:buChar char="●"/>
            </a:pPr>
            <a:r>
              <a:rPr lang="en-US" sz="1200" dirty="0"/>
              <a:t>Overcoming technical challenges in model training and data processing.</a:t>
            </a:r>
          </a:p>
          <a:p>
            <a:pPr marL="0" lvl="0" indent="0" algn="l" rtl="0">
              <a:lnSpc>
                <a:spcPct val="95000"/>
              </a:lnSpc>
              <a:spcBef>
                <a:spcPts val="0"/>
              </a:spcBef>
              <a:spcAft>
                <a:spcPts val="0"/>
              </a:spcAft>
              <a:buClr>
                <a:schemeClr val="dk1"/>
              </a:buClr>
              <a:buSzPts val="523"/>
              <a:buFont typeface="Arial"/>
              <a:buNone/>
            </a:pPr>
            <a:r>
              <a:rPr lang="en-US" sz="1200" dirty="0"/>
              <a:t>Impact:</a:t>
            </a:r>
          </a:p>
          <a:p>
            <a:pPr marL="457200" lvl="0" indent="-302895" algn="l" rtl="0">
              <a:lnSpc>
                <a:spcPct val="95000"/>
              </a:lnSpc>
              <a:spcBef>
                <a:spcPts val="0"/>
              </a:spcBef>
              <a:spcAft>
                <a:spcPts val="0"/>
              </a:spcAft>
              <a:buClr>
                <a:schemeClr val="dk1"/>
              </a:buClr>
              <a:buSzPts val="1170"/>
              <a:buFont typeface="Calibri"/>
              <a:buChar char="●"/>
            </a:pPr>
            <a:r>
              <a:rPr lang="en-US" sz="1200" dirty="0"/>
              <a:t>Enhanced accessibility and quality of medical information.</a:t>
            </a:r>
          </a:p>
          <a:p>
            <a:pPr marL="457200" lvl="0" indent="-302895" algn="l" rtl="0">
              <a:lnSpc>
                <a:spcPct val="95000"/>
              </a:lnSpc>
              <a:spcBef>
                <a:spcPts val="0"/>
              </a:spcBef>
              <a:spcAft>
                <a:spcPts val="0"/>
              </a:spcAft>
              <a:buClr>
                <a:schemeClr val="dk1"/>
              </a:buClr>
              <a:buSzPts val="1170"/>
              <a:buFont typeface="Calibri"/>
              <a:buChar char="●"/>
            </a:pPr>
            <a:r>
              <a:rPr lang="en-US" sz="1200" dirty="0"/>
              <a:t>Potential to aid in medical decision-making and patient education.</a:t>
            </a:r>
          </a:p>
          <a:p>
            <a:pPr marL="457200" lvl="0" indent="-302895" algn="l" rtl="0">
              <a:lnSpc>
                <a:spcPct val="95000"/>
              </a:lnSpc>
              <a:spcBef>
                <a:spcPts val="0"/>
              </a:spcBef>
              <a:spcAft>
                <a:spcPts val="0"/>
              </a:spcAft>
              <a:buClr>
                <a:schemeClr val="dk1"/>
              </a:buClr>
              <a:buSzPts val="1170"/>
              <a:buFont typeface="Calibri"/>
              <a:buChar char="●"/>
            </a:pPr>
            <a:r>
              <a:rPr lang="en-US" sz="1200" dirty="0"/>
              <a:t>Contribution to the evolving field of AI in healthcare.</a:t>
            </a:r>
          </a:p>
          <a:p>
            <a:pPr marL="0" lvl="0" indent="0" algn="l" rtl="0">
              <a:lnSpc>
                <a:spcPct val="95000"/>
              </a:lnSpc>
              <a:spcBef>
                <a:spcPts val="0"/>
              </a:spcBef>
              <a:spcAft>
                <a:spcPts val="0"/>
              </a:spcAft>
              <a:buClr>
                <a:schemeClr val="dk1"/>
              </a:buClr>
              <a:buSzPts val="523"/>
              <a:buFont typeface="Arial"/>
              <a:buNone/>
            </a:pPr>
            <a:r>
              <a:rPr lang="en-US" sz="1200" dirty="0"/>
              <a:t>Future Prospects:</a:t>
            </a:r>
          </a:p>
          <a:p>
            <a:pPr marL="457200" lvl="0" indent="-302895" algn="l" rtl="0">
              <a:lnSpc>
                <a:spcPct val="95000"/>
              </a:lnSpc>
              <a:spcBef>
                <a:spcPts val="0"/>
              </a:spcBef>
              <a:spcAft>
                <a:spcPts val="0"/>
              </a:spcAft>
              <a:buClr>
                <a:schemeClr val="dk1"/>
              </a:buClr>
              <a:buSzPts val="1170"/>
              <a:buFont typeface="Calibri"/>
              <a:buChar char="●"/>
            </a:pPr>
            <a:r>
              <a:rPr lang="en-US" sz="1200" dirty="0"/>
              <a:t>Continuous development and enhancement of the chatbot's capabilities.</a:t>
            </a:r>
          </a:p>
          <a:p>
            <a:pPr marL="457200" lvl="0" indent="-302895" algn="l" rtl="0">
              <a:lnSpc>
                <a:spcPct val="95000"/>
              </a:lnSpc>
              <a:spcBef>
                <a:spcPts val="0"/>
              </a:spcBef>
              <a:spcAft>
                <a:spcPts val="0"/>
              </a:spcAft>
              <a:buClr>
                <a:schemeClr val="dk1"/>
              </a:buClr>
              <a:buSzPts val="1170"/>
              <a:buFont typeface="Calibri"/>
              <a:buChar char="●"/>
            </a:pPr>
            <a:r>
              <a:rPr lang="en-US" sz="1200" dirty="0"/>
              <a:t>Incorporation of more diverse and up-to-date medical knowledge sources.</a:t>
            </a:r>
          </a:p>
          <a:p>
            <a:pPr marL="457200" lvl="0" indent="-302895" algn="l" rtl="0">
              <a:lnSpc>
                <a:spcPct val="95000"/>
              </a:lnSpc>
              <a:spcBef>
                <a:spcPts val="0"/>
              </a:spcBef>
              <a:spcAft>
                <a:spcPts val="0"/>
              </a:spcAft>
              <a:buClr>
                <a:schemeClr val="dk1"/>
              </a:buClr>
              <a:buSzPts val="1170"/>
              <a:buFont typeface="Calibri"/>
              <a:buChar char="●"/>
            </a:pPr>
            <a:r>
              <a:rPr lang="en-US" sz="1200" dirty="0"/>
              <a:t>Optimistic about the transformative role of AI and NLP in medical diagnostics and patient care.</a:t>
            </a:r>
            <a:endParaRPr lang="en-US" sz="1600" dirty="0"/>
          </a:p>
          <a:p>
            <a:pPr marL="0" lvl="0" indent="0" algn="l" rtl="0">
              <a:spcBef>
                <a:spcPts val="0"/>
              </a:spcBef>
              <a:spcAft>
                <a:spcPts val="0"/>
              </a:spcAft>
              <a:buNone/>
            </a:pPr>
            <a:endParaRPr sz="1200" dirty="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9fe7a3a2ee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9fe7a3a2ee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9ab8548f41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9ab8548f4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Google Shape;13;p2"/>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Google Shape;14;p2"/>
          <p:cNvSpPr txBox="1">
            <a:spLocks noGrp="1"/>
          </p:cNvSpPr>
          <p:nvPr>
            <p:ph type="dt" idx="10"/>
          </p:nvPr>
        </p:nvSpPr>
        <p:spPr>
          <a:xfrm>
            <a:off x="628650" y="4767266"/>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Google Shape;15;p2"/>
          <p:cNvSpPr txBox="1">
            <a:spLocks noGrp="1"/>
          </p:cNvSpPr>
          <p:nvPr>
            <p:ph type="ftr" idx="11"/>
          </p:nvPr>
        </p:nvSpPr>
        <p:spPr>
          <a:xfrm>
            <a:off x="3028950" y="4767266"/>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Google Shape;16;p2"/>
          <p:cNvSpPr txBox="1">
            <a:spLocks noGrp="1"/>
          </p:cNvSpPr>
          <p:nvPr>
            <p:ph type="sldNum" idx="12"/>
          </p:nvPr>
        </p:nvSpPr>
        <p:spPr>
          <a:xfrm>
            <a:off x="6457950" y="4767266"/>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28650" y="273847"/>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Google Shape;19;p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Google Shape;20;p3"/>
          <p:cNvSpPr txBox="1">
            <a:spLocks noGrp="1"/>
          </p:cNvSpPr>
          <p:nvPr>
            <p:ph type="dt" idx="10"/>
          </p:nvPr>
        </p:nvSpPr>
        <p:spPr>
          <a:xfrm>
            <a:off x="628650" y="4767266"/>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Google Shape;21;p3"/>
          <p:cNvSpPr txBox="1">
            <a:spLocks noGrp="1"/>
          </p:cNvSpPr>
          <p:nvPr>
            <p:ph type="ftr" idx="11"/>
          </p:nvPr>
        </p:nvSpPr>
        <p:spPr>
          <a:xfrm>
            <a:off x="3028950" y="4767266"/>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Google Shape;22;p3"/>
          <p:cNvSpPr txBox="1">
            <a:spLocks noGrp="1"/>
          </p:cNvSpPr>
          <p:nvPr>
            <p:ph type="sldNum" idx="12"/>
          </p:nvPr>
        </p:nvSpPr>
        <p:spPr>
          <a:xfrm>
            <a:off x="6457950" y="4767266"/>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623888" y="1282307"/>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Google Shape;25;p4"/>
          <p:cNvSpPr txBox="1">
            <a:spLocks noGrp="1"/>
          </p:cNvSpPr>
          <p:nvPr>
            <p:ph type="body" idx="1"/>
          </p:nvPr>
        </p:nvSpPr>
        <p:spPr>
          <a:xfrm>
            <a:off x="623888" y="3442100"/>
            <a:ext cx="7886700" cy="11250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Google Shape;26;p4"/>
          <p:cNvSpPr txBox="1">
            <a:spLocks noGrp="1"/>
          </p:cNvSpPr>
          <p:nvPr>
            <p:ph type="dt" idx="10"/>
          </p:nvPr>
        </p:nvSpPr>
        <p:spPr>
          <a:xfrm>
            <a:off x="628650" y="4767266"/>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Google Shape;27;p4"/>
          <p:cNvSpPr txBox="1">
            <a:spLocks noGrp="1"/>
          </p:cNvSpPr>
          <p:nvPr>
            <p:ph type="ftr" idx="11"/>
          </p:nvPr>
        </p:nvSpPr>
        <p:spPr>
          <a:xfrm>
            <a:off x="3028950" y="4767266"/>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Google Shape;28;p4"/>
          <p:cNvSpPr txBox="1">
            <a:spLocks noGrp="1"/>
          </p:cNvSpPr>
          <p:nvPr>
            <p:ph type="sldNum" idx="12"/>
          </p:nvPr>
        </p:nvSpPr>
        <p:spPr>
          <a:xfrm>
            <a:off x="6457950" y="4767266"/>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628650" y="273847"/>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Google Shape;31;p5"/>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Google Shape;32;p5"/>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Google Shape;33;p5"/>
          <p:cNvSpPr txBox="1">
            <a:spLocks noGrp="1"/>
          </p:cNvSpPr>
          <p:nvPr>
            <p:ph type="dt" idx="10"/>
          </p:nvPr>
        </p:nvSpPr>
        <p:spPr>
          <a:xfrm>
            <a:off x="628650" y="4767266"/>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Google Shape;34;p5"/>
          <p:cNvSpPr txBox="1">
            <a:spLocks noGrp="1"/>
          </p:cNvSpPr>
          <p:nvPr>
            <p:ph type="ftr" idx="11"/>
          </p:nvPr>
        </p:nvSpPr>
        <p:spPr>
          <a:xfrm>
            <a:off x="3028950" y="4767266"/>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Google Shape;35;p5"/>
          <p:cNvSpPr txBox="1">
            <a:spLocks noGrp="1"/>
          </p:cNvSpPr>
          <p:nvPr>
            <p:ph type="sldNum" idx="12"/>
          </p:nvPr>
        </p:nvSpPr>
        <p:spPr>
          <a:xfrm>
            <a:off x="6457950" y="4767266"/>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629841" y="273847"/>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Google Shape;38;p6"/>
          <p:cNvSpPr txBox="1">
            <a:spLocks noGrp="1"/>
          </p:cNvSpPr>
          <p:nvPr>
            <p:ph type="body" idx="1"/>
          </p:nvPr>
        </p:nvSpPr>
        <p:spPr>
          <a:xfrm>
            <a:off x="629842" y="1260872"/>
            <a:ext cx="38682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Google Shape;39;p6"/>
          <p:cNvSpPr txBox="1">
            <a:spLocks noGrp="1"/>
          </p:cNvSpPr>
          <p:nvPr>
            <p:ph type="body" idx="2"/>
          </p:nvPr>
        </p:nvSpPr>
        <p:spPr>
          <a:xfrm>
            <a:off x="629842" y="1878806"/>
            <a:ext cx="3868200" cy="2763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Google Shape;40;p6"/>
          <p:cNvSpPr txBox="1">
            <a:spLocks noGrp="1"/>
          </p:cNvSpPr>
          <p:nvPr>
            <p:ph type="body" idx="3"/>
          </p:nvPr>
        </p:nvSpPr>
        <p:spPr>
          <a:xfrm>
            <a:off x="4629152"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Google Shape;41;p6"/>
          <p:cNvSpPr txBox="1">
            <a:spLocks noGrp="1"/>
          </p:cNvSpPr>
          <p:nvPr>
            <p:ph type="body" idx="4"/>
          </p:nvPr>
        </p:nvSpPr>
        <p:spPr>
          <a:xfrm>
            <a:off x="4629152" y="1878806"/>
            <a:ext cx="3887400" cy="27633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Google Shape;42;p6"/>
          <p:cNvSpPr txBox="1">
            <a:spLocks noGrp="1"/>
          </p:cNvSpPr>
          <p:nvPr>
            <p:ph type="dt" idx="10"/>
          </p:nvPr>
        </p:nvSpPr>
        <p:spPr>
          <a:xfrm>
            <a:off x="628650" y="4767266"/>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Google Shape;43;p6"/>
          <p:cNvSpPr txBox="1">
            <a:spLocks noGrp="1"/>
          </p:cNvSpPr>
          <p:nvPr>
            <p:ph type="ftr" idx="11"/>
          </p:nvPr>
        </p:nvSpPr>
        <p:spPr>
          <a:xfrm>
            <a:off x="3028950" y="4767266"/>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Google Shape;44;p6"/>
          <p:cNvSpPr txBox="1">
            <a:spLocks noGrp="1"/>
          </p:cNvSpPr>
          <p:nvPr>
            <p:ph type="sldNum" idx="12"/>
          </p:nvPr>
        </p:nvSpPr>
        <p:spPr>
          <a:xfrm>
            <a:off x="6457950" y="4767266"/>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8650" y="273847"/>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Google Shape;47;p7"/>
          <p:cNvSpPr txBox="1">
            <a:spLocks noGrp="1"/>
          </p:cNvSpPr>
          <p:nvPr>
            <p:ph type="dt" idx="10"/>
          </p:nvPr>
        </p:nvSpPr>
        <p:spPr>
          <a:xfrm>
            <a:off x="628650" y="4767266"/>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Google Shape;48;p7"/>
          <p:cNvSpPr txBox="1">
            <a:spLocks noGrp="1"/>
          </p:cNvSpPr>
          <p:nvPr>
            <p:ph type="ftr" idx="11"/>
          </p:nvPr>
        </p:nvSpPr>
        <p:spPr>
          <a:xfrm>
            <a:off x="3028950" y="4767266"/>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Google Shape;49;p7"/>
          <p:cNvSpPr txBox="1">
            <a:spLocks noGrp="1"/>
          </p:cNvSpPr>
          <p:nvPr>
            <p:ph type="sldNum" idx="12"/>
          </p:nvPr>
        </p:nvSpPr>
        <p:spPr>
          <a:xfrm>
            <a:off x="6457950" y="4767266"/>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628650" y="4767266"/>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Google Shape;52;p8"/>
          <p:cNvSpPr txBox="1">
            <a:spLocks noGrp="1"/>
          </p:cNvSpPr>
          <p:nvPr>
            <p:ph type="ftr" idx="11"/>
          </p:nvPr>
        </p:nvSpPr>
        <p:spPr>
          <a:xfrm>
            <a:off x="3028950" y="4767266"/>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Google Shape;53;p8"/>
          <p:cNvSpPr txBox="1">
            <a:spLocks noGrp="1"/>
          </p:cNvSpPr>
          <p:nvPr>
            <p:ph type="sldNum" idx="12"/>
          </p:nvPr>
        </p:nvSpPr>
        <p:spPr>
          <a:xfrm>
            <a:off x="6457950" y="4767266"/>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629841" y="342900"/>
            <a:ext cx="29493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Google Shape;56;p9"/>
          <p:cNvSpPr txBox="1">
            <a:spLocks noGrp="1"/>
          </p:cNvSpPr>
          <p:nvPr>
            <p:ph type="body" idx="1"/>
          </p:nvPr>
        </p:nvSpPr>
        <p:spPr>
          <a:xfrm>
            <a:off x="3887391" y="740572"/>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Google Shape;57;p9"/>
          <p:cNvSpPr txBox="1">
            <a:spLocks noGrp="1"/>
          </p:cNvSpPr>
          <p:nvPr>
            <p:ph type="body" idx="2"/>
          </p:nvPr>
        </p:nvSpPr>
        <p:spPr>
          <a:xfrm>
            <a:off x="629841" y="1543050"/>
            <a:ext cx="29493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Google Shape;58;p9"/>
          <p:cNvSpPr txBox="1">
            <a:spLocks noGrp="1"/>
          </p:cNvSpPr>
          <p:nvPr>
            <p:ph type="dt" idx="10"/>
          </p:nvPr>
        </p:nvSpPr>
        <p:spPr>
          <a:xfrm>
            <a:off x="628650" y="4767266"/>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Google Shape;59;p9"/>
          <p:cNvSpPr txBox="1">
            <a:spLocks noGrp="1"/>
          </p:cNvSpPr>
          <p:nvPr>
            <p:ph type="ftr" idx="11"/>
          </p:nvPr>
        </p:nvSpPr>
        <p:spPr>
          <a:xfrm>
            <a:off x="3028950" y="4767266"/>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Google Shape;60;p9"/>
          <p:cNvSpPr txBox="1">
            <a:spLocks noGrp="1"/>
          </p:cNvSpPr>
          <p:nvPr>
            <p:ph type="sldNum" idx="12"/>
          </p:nvPr>
        </p:nvSpPr>
        <p:spPr>
          <a:xfrm>
            <a:off x="6457950" y="4767266"/>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629841" y="342900"/>
            <a:ext cx="29493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Google Shape;63;p10"/>
          <p:cNvSpPr>
            <a:spLocks noGrp="1"/>
          </p:cNvSpPr>
          <p:nvPr>
            <p:ph type="pic" idx="2"/>
          </p:nvPr>
        </p:nvSpPr>
        <p:spPr>
          <a:xfrm>
            <a:off x="3887391" y="740572"/>
            <a:ext cx="4629300" cy="3655200"/>
          </a:xfrm>
          <a:prstGeom prst="rect">
            <a:avLst/>
          </a:prstGeom>
          <a:noFill/>
          <a:ln>
            <a:noFill/>
          </a:ln>
        </p:spPr>
      </p:sp>
      <p:sp>
        <p:nvSpPr>
          <p:cNvPr id="64" name="Google Shape;64;p10"/>
          <p:cNvSpPr txBox="1">
            <a:spLocks noGrp="1"/>
          </p:cNvSpPr>
          <p:nvPr>
            <p:ph type="body" idx="1"/>
          </p:nvPr>
        </p:nvSpPr>
        <p:spPr>
          <a:xfrm>
            <a:off x="629841" y="1543050"/>
            <a:ext cx="29493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Google Shape;65;p10"/>
          <p:cNvSpPr txBox="1">
            <a:spLocks noGrp="1"/>
          </p:cNvSpPr>
          <p:nvPr>
            <p:ph type="dt" idx="10"/>
          </p:nvPr>
        </p:nvSpPr>
        <p:spPr>
          <a:xfrm>
            <a:off x="628650" y="4767266"/>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Google Shape;66;p10"/>
          <p:cNvSpPr txBox="1">
            <a:spLocks noGrp="1"/>
          </p:cNvSpPr>
          <p:nvPr>
            <p:ph type="ftr" idx="11"/>
          </p:nvPr>
        </p:nvSpPr>
        <p:spPr>
          <a:xfrm>
            <a:off x="3028950" y="4767266"/>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Google Shape;67;p10"/>
          <p:cNvSpPr txBox="1">
            <a:spLocks noGrp="1"/>
          </p:cNvSpPr>
          <p:nvPr>
            <p:ph type="sldNum" idx="12"/>
          </p:nvPr>
        </p:nvSpPr>
        <p:spPr>
          <a:xfrm>
            <a:off x="6457950" y="4767266"/>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628650" y="273847"/>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Google Shape;70;p11"/>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Google Shape;71;p11"/>
          <p:cNvSpPr txBox="1">
            <a:spLocks noGrp="1"/>
          </p:cNvSpPr>
          <p:nvPr>
            <p:ph type="dt" idx="10"/>
          </p:nvPr>
        </p:nvSpPr>
        <p:spPr>
          <a:xfrm>
            <a:off x="628650" y="4767266"/>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Google Shape;72;p11"/>
          <p:cNvSpPr txBox="1">
            <a:spLocks noGrp="1"/>
          </p:cNvSpPr>
          <p:nvPr>
            <p:ph type="ftr" idx="11"/>
          </p:nvPr>
        </p:nvSpPr>
        <p:spPr>
          <a:xfrm>
            <a:off x="3028950" y="4767266"/>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Google Shape;73;p11"/>
          <p:cNvSpPr txBox="1">
            <a:spLocks noGrp="1"/>
          </p:cNvSpPr>
          <p:nvPr>
            <p:ph type="sldNum" idx="12"/>
          </p:nvPr>
        </p:nvSpPr>
        <p:spPr>
          <a:xfrm>
            <a:off x="6457950" y="4767266"/>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5350052"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2"/>
          <p:cNvSpPr txBox="1">
            <a:spLocks noGrp="1"/>
          </p:cNvSpPr>
          <p:nvPr>
            <p:ph type="body" idx="1"/>
          </p:nvPr>
        </p:nvSpPr>
        <p:spPr>
          <a:xfrm rot="5400000">
            <a:off x="1349477"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12"/>
          <p:cNvSpPr txBox="1">
            <a:spLocks noGrp="1"/>
          </p:cNvSpPr>
          <p:nvPr>
            <p:ph type="dt" idx="10"/>
          </p:nvPr>
        </p:nvSpPr>
        <p:spPr>
          <a:xfrm>
            <a:off x="628650" y="4767266"/>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Google Shape;78;p12"/>
          <p:cNvSpPr txBox="1">
            <a:spLocks noGrp="1"/>
          </p:cNvSpPr>
          <p:nvPr>
            <p:ph type="ftr" idx="11"/>
          </p:nvPr>
        </p:nvSpPr>
        <p:spPr>
          <a:xfrm>
            <a:off x="3028950" y="4767266"/>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2"/>
          <p:cNvSpPr txBox="1">
            <a:spLocks noGrp="1"/>
          </p:cNvSpPr>
          <p:nvPr>
            <p:ph type="sldNum" idx="12"/>
          </p:nvPr>
        </p:nvSpPr>
        <p:spPr>
          <a:xfrm>
            <a:off x="6457950" y="4767266"/>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8650" y="273847"/>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Google Shape;7;p1"/>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628650" y="4767266"/>
            <a:ext cx="2057400" cy="2739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028950" y="4767266"/>
            <a:ext cx="3086100" cy="273900"/>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457950" y="4767266"/>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ctrTitle"/>
          </p:nvPr>
        </p:nvSpPr>
        <p:spPr>
          <a:xfrm>
            <a:off x="1143000" y="841772"/>
            <a:ext cx="6858000" cy="1790700"/>
          </a:xfrm>
          <a:prstGeom prst="rect">
            <a:avLst/>
          </a:prstGeom>
        </p:spPr>
        <p:txBody>
          <a:bodyPr spcFirstLastPara="1" wrap="square" lIns="68575" tIns="34275" rIns="68575" bIns="34275" anchor="b" anchorCtr="0">
            <a:normAutofit fontScale="90000"/>
          </a:bodyPr>
          <a:lstStyle/>
          <a:p>
            <a:pPr marL="0" lvl="0" indent="0" algn="ctr" rtl="0">
              <a:spcBef>
                <a:spcPts val="0"/>
              </a:spcBef>
              <a:spcAft>
                <a:spcPts val="0"/>
              </a:spcAft>
              <a:buNone/>
            </a:pPr>
            <a:r>
              <a:rPr lang="en" dirty="0"/>
              <a:t>NLP Chatbot (Question-Answering) </a:t>
            </a:r>
            <a:endParaRPr dirty="0"/>
          </a:p>
          <a:p>
            <a:pPr marL="0" lvl="0" indent="0" algn="ctr" rtl="0">
              <a:spcBef>
                <a:spcPts val="0"/>
              </a:spcBef>
              <a:spcAft>
                <a:spcPts val="0"/>
              </a:spcAft>
              <a:buNone/>
            </a:pPr>
            <a:r>
              <a:rPr lang="en" dirty="0"/>
              <a:t>Using Transformer</a:t>
            </a:r>
            <a:endParaRPr dirty="0"/>
          </a:p>
        </p:txBody>
      </p:sp>
      <p:sp>
        <p:nvSpPr>
          <p:cNvPr id="85" name="Google Shape;85;p13"/>
          <p:cNvSpPr txBox="1">
            <a:spLocks noGrp="1"/>
          </p:cNvSpPr>
          <p:nvPr>
            <p:ph type="subTitle" idx="1"/>
          </p:nvPr>
        </p:nvSpPr>
        <p:spPr>
          <a:xfrm>
            <a:off x="1143000" y="3026729"/>
            <a:ext cx="6858000" cy="1241700"/>
          </a:xfrm>
          <a:prstGeom prst="rect">
            <a:avLst/>
          </a:prstGeom>
        </p:spPr>
        <p:txBody>
          <a:bodyPr spcFirstLastPara="1" wrap="square" lIns="68575" tIns="34275" rIns="68575" bIns="34275" anchor="t" anchorCtr="0">
            <a:normAutofit/>
          </a:bodyPr>
          <a:lstStyle/>
          <a:p>
            <a:pPr marL="0" lvl="0" indent="0" algn="ctr" rtl="0">
              <a:spcBef>
                <a:spcPts val="800"/>
              </a:spcBef>
              <a:spcAft>
                <a:spcPts val="0"/>
              </a:spcAft>
              <a:buNone/>
            </a:pPr>
            <a:r>
              <a:rPr lang="en"/>
              <a:t>Prepared By: Anika Tasnim</a:t>
            </a:r>
            <a:endParaRPr/>
          </a:p>
          <a:p>
            <a:pPr marL="0" lvl="0" indent="0" algn="ctr" rtl="0">
              <a:spcBef>
                <a:spcPts val="800"/>
              </a:spcBef>
              <a:spcAft>
                <a:spcPts val="0"/>
              </a:spcAft>
              <a:buNone/>
            </a:pPr>
            <a:r>
              <a:rPr lang="en"/>
              <a:t>Course: ECE 7500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ctrTitle"/>
          </p:nvPr>
        </p:nvSpPr>
        <p:spPr>
          <a:xfrm>
            <a:off x="1143000" y="139375"/>
            <a:ext cx="1855200" cy="537000"/>
          </a:xfrm>
          <a:prstGeom prst="rect">
            <a:avLst/>
          </a:prstGeom>
        </p:spPr>
        <p:txBody>
          <a:bodyPr spcFirstLastPara="1" wrap="square" lIns="68575" tIns="34275" rIns="68575" bIns="34275" anchor="b" anchorCtr="0">
            <a:normAutofit fontScale="90000"/>
          </a:bodyPr>
          <a:lstStyle/>
          <a:p>
            <a:pPr marL="0" lvl="0" indent="0" algn="ctr" rtl="0">
              <a:spcBef>
                <a:spcPts val="0"/>
              </a:spcBef>
              <a:spcAft>
                <a:spcPts val="0"/>
              </a:spcAft>
              <a:buNone/>
            </a:pPr>
            <a:r>
              <a:rPr lang="en"/>
              <a:t>Agenda</a:t>
            </a:r>
            <a:endParaRPr/>
          </a:p>
        </p:txBody>
      </p:sp>
      <p:sp>
        <p:nvSpPr>
          <p:cNvPr id="91" name="Google Shape;91;p14"/>
          <p:cNvSpPr txBox="1">
            <a:spLocks noGrp="1"/>
          </p:cNvSpPr>
          <p:nvPr>
            <p:ph type="subTitle" idx="1"/>
          </p:nvPr>
        </p:nvSpPr>
        <p:spPr>
          <a:xfrm>
            <a:off x="1143000" y="890700"/>
            <a:ext cx="4639800" cy="3234300"/>
          </a:xfrm>
          <a:prstGeom prst="rect">
            <a:avLst/>
          </a:prstGeom>
        </p:spPr>
        <p:txBody>
          <a:bodyPr spcFirstLastPara="1" wrap="square" lIns="68575" tIns="34275" rIns="68575" bIns="34275" anchor="t" anchorCtr="0">
            <a:normAutofit/>
          </a:bodyPr>
          <a:lstStyle/>
          <a:p>
            <a:pPr marL="457200" lvl="0" indent="-342900" algn="l" rtl="0">
              <a:spcBef>
                <a:spcPts val="800"/>
              </a:spcBef>
              <a:spcAft>
                <a:spcPts val="0"/>
              </a:spcAft>
              <a:buSzPts val="1800"/>
              <a:buAutoNum type="romanUcPeriod"/>
            </a:pPr>
            <a:r>
              <a:rPr lang="en"/>
              <a:t>Introduction to ChatBot</a:t>
            </a:r>
            <a:endParaRPr/>
          </a:p>
          <a:p>
            <a:pPr marL="457200" lvl="0" indent="-342900" algn="l" rtl="0">
              <a:spcBef>
                <a:spcPts val="0"/>
              </a:spcBef>
              <a:spcAft>
                <a:spcPts val="0"/>
              </a:spcAft>
              <a:buSzPts val="1800"/>
              <a:buAutoNum type="romanUcPeriod"/>
            </a:pPr>
            <a:r>
              <a:rPr lang="en"/>
              <a:t>Dataset</a:t>
            </a:r>
            <a:endParaRPr/>
          </a:p>
          <a:p>
            <a:pPr marL="457200" lvl="0" indent="-342900" algn="l" rtl="0">
              <a:spcBef>
                <a:spcPts val="0"/>
              </a:spcBef>
              <a:spcAft>
                <a:spcPts val="0"/>
              </a:spcAft>
              <a:buSzPts val="1800"/>
              <a:buAutoNum type="romanUcPeriod"/>
            </a:pPr>
            <a:r>
              <a:rPr lang="en"/>
              <a:t>Transfer Model Selection</a:t>
            </a:r>
            <a:endParaRPr/>
          </a:p>
          <a:p>
            <a:pPr marL="457200" lvl="0" indent="-342900" algn="l" rtl="0">
              <a:spcBef>
                <a:spcPts val="0"/>
              </a:spcBef>
              <a:spcAft>
                <a:spcPts val="0"/>
              </a:spcAft>
              <a:buSzPts val="1800"/>
              <a:buAutoNum type="romanUcPeriod"/>
            </a:pPr>
            <a:r>
              <a:rPr lang="en"/>
              <a:t>Overview of Approach</a:t>
            </a:r>
            <a:endParaRPr/>
          </a:p>
          <a:p>
            <a:pPr marL="457200" lvl="0" indent="-342900" algn="l" rtl="0">
              <a:spcBef>
                <a:spcPts val="0"/>
              </a:spcBef>
              <a:spcAft>
                <a:spcPts val="0"/>
              </a:spcAft>
              <a:buSzPts val="1800"/>
              <a:buAutoNum type="romanUcPeriod"/>
            </a:pPr>
            <a:r>
              <a:rPr lang="en"/>
              <a:t>Extractive vs. Generative ChatBot</a:t>
            </a:r>
            <a:endParaRPr/>
          </a:p>
          <a:p>
            <a:pPr marL="457200" lvl="0" indent="-342900" algn="l" rtl="0">
              <a:spcBef>
                <a:spcPts val="0"/>
              </a:spcBef>
              <a:spcAft>
                <a:spcPts val="0"/>
              </a:spcAft>
              <a:buSzPts val="1800"/>
              <a:buAutoNum type="romanUcPeriod"/>
            </a:pPr>
            <a:r>
              <a:rPr lang="en"/>
              <a:t>Reason to select BERT Transfer model</a:t>
            </a:r>
            <a:endParaRPr/>
          </a:p>
          <a:p>
            <a:pPr marL="457200" lvl="0" indent="-342900" algn="l" rtl="0">
              <a:spcBef>
                <a:spcPts val="0"/>
              </a:spcBef>
              <a:spcAft>
                <a:spcPts val="0"/>
              </a:spcAft>
              <a:buSzPts val="1800"/>
              <a:buAutoNum type="romanUcPeriod"/>
            </a:pPr>
            <a:r>
              <a:rPr lang="en"/>
              <a:t>Technical Challenges &amp; Solutions</a:t>
            </a:r>
            <a:endParaRPr/>
          </a:p>
          <a:p>
            <a:pPr marL="457200" lvl="0" indent="-342900" algn="l" rtl="0">
              <a:spcBef>
                <a:spcPts val="0"/>
              </a:spcBef>
              <a:spcAft>
                <a:spcPts val="0"/>
              </a:spcAft>
              <a:buSzPts val="1800"/>
              <a:buAutoNum type="romanUcPeriod"/>
            </a:pPr>
            <a:r>
              <a:rPr lang="en"/>
              <a:t>Goals and Expected Outcome</a:t>
            </a:r>
            <a:endParaRPr/>
          </a:p>
          <a:p>
            <a:pPr marL="457200" lvl="0" indent="-342900" algn="l" rtl="0">
              <a:spcBef>
                <a:spcPts val="0"/>
              </a:spcBef>
              <a:spcAft>
                <a:spcPts val="0"/>
              </a:spcAft>
              <a:buSzPts val="1800"/>
              <a:buAutoNum type="romanUcPeriod"/>
            </a:pPr>
            <a:r>
              <a:rPr lang="en"/>
              <a:t>Future Enhancement </a:t>
            </a:r>
            <a:endParaRPr/>
          </a:p>
          <a:p>
            <a:pPr marL="457200" lvl="0" indent="-342900" algn="l" rtl="0">
              <a:spcBef>
                <a:spcPts val="0"/>
              </a:spcBef>
              <a:spcAft>
                <a:spcPts val="0"/>
              </a:spcAft>
              <a:buSzPts val="1800"/>
              <a:buAutoNum type="romanUcPeriod"/>
            </a:pPr>
            <a:r>
              <a:rPr lang="en"/>
              <a:t>Conclusion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628650" y="-3"/>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a:pPr>
            <a:r>
              <a:rPr lang="en" sz="2900"/>
              <a:t>Introduction to Chatbot:</a:t>
            </a:r>
            <a:endParaRPr sz="2900"/>
          </a:p>
        </p:txBody>
      </p:sp>
      <p:sp>
        <p:nvSpPr>
          <p:cNvPr id="97" name="Google Shape;97;p15"/>
          <p:cNvSpPr txBox="1">
            <a:spLocks noGrp="1"/>
          </p:cNvSpPr>
          <p:nvPr>
            <p:ph type="body" idx="1"/>
          </p:nvPr>
        </p:nvSpPr>
        <p:spPr>
          <a:xfrm>
            <a:off x="628650" y="940044"/>
            <a:ext cx="7886700" cy="3263400"/>
          </a:xfrm>
          <a:prstGeom prst="rect">
            <a:avLst/>
          </a:prstGeom>
        </p:spPr>
        <p:txBody>
          <a:bodyPr spcFirstLastPara="1" wrap="square" lIns="68575" tIns="34275" rIns="68575" bIns="34275" anchor="t" anchorCtr="0">
            <a:noAutofit/>
          </a:bodyPr>
          <a:lstStyle/>
          <a:p>
            <a:pPr marL="457200" lvl="0" indent="-228600" algn="l" rtl="0">
              <a:lnSpc>
                <a:spcPct val="95000"/>
              </a:lnSpc>
              <a:spcBef>
                <a:spcPts val="0"/>
              </a:spcBef>
              <a:spcAft>
                <a:spcPts val="0"/>
              </a:spcAft>
              <a:buClr>
                <a:srgbClr val="134F5C"/>
              </a:buClr>
              <a:buSzPts val="1200"/>
              <a:buFont typeface="Calibri"/>
              <a:buNone/>
            </a:pPr>
            <a:r>
              <a:rPr lang="en" sz="1200" b="1" i="1" dirty="0">
                <a:solidFill>
                  <a:srgbClr val="134F5C"/>
                </a:solidFill>
              </a:rPr>
              <a:t>Project Focus:</a:t>
            </a:r>
            <a:endParaRPr sz="1200" b="1" i="1" dirty="0">
              <a:solidFill>
                <a:srgbClr val="134F5C"/>
              </a:solidFill>
            </a:endParaRPr>
          </a:p>
          <a:p>
            <a:pPr marL="914400" lvl="1" indent="-304800" algn="l" rtl="0">
              <a:lnSpc>
                <a:spcPct val="95000"/>
              </a:lnSpc>
              <a:spcBef>
                <a:spcPts val="0"/>
              </a:spcBef>
              <a:spcAft>
                <a:spcPts val="0"/>
              </a:spcAft>
              <a:buClr>
                <a:schemeClr val="dk1"/>
              </a:buClr>
              <a:buSzPts val="1200"/>
              <a:buFont typeface="Calibri"/>
              <a:buChar char="●"/>
            </a:pPr>
            <a:r>
              <a:rPr lang="en" sz="1200" dirty="0"/>
              <a:t>Exploring the application of NLP and transformer models in developing a question-answering chatbot tailored for the medical field.</a:t>
            </a:r>
            <a:endParaRPr sz="1200" dirty="0"/>
          </a:p>
          <a:p>
            <a:pPr marL="457200" lvl="0" indent="-228600" algn="l" rtl="0">
              <a:lnSpc>
                <a:spcPct val="95000"/>
              </a:lnSpc>
              <a:spcBef>
                <a:spcPts val="0"/>
              </a:spcBef>
              <a:spcAft>
                <a:spcPts val="0"/>
              </a:spcAft>
              <a:buClr>
                <a:srgbClr val="134F5C"/>
              </a:buClr>
              <a:buSzPts val="1200"/>
              <a:buFont typeface="Calibri"/>
              <a:buNone/>
            </a:pPr>
            <a:r>
              <a:rPr lang="en" sz="1200" b="1" i="1" dirty="0">
                <a:solidFill>
                  <a:srgbClr val="134F5C"/>
                </a:solidFill>
              </a:rPr>
              <a:t>The Role of Transformers in NLP:</a:t>
            </a:r>
            <a:endParaRPr sz="1200" dirty="0">
              <a:solidFill>
                <a:srgbClr val="134F5C"/>
              </a:solidFill>
            </a:endParaRPr>
          </a:p>
          <a:p>
            <a:pPr marL="914400" lvl="1" indent="-304800" algn="l" rtl="0">
              <a:lnSpc>
                <a:spcPct val="95000"/>
              </a:lnSpc>
              <a:spcBef>
                <a:spcPts val="0"/>
              </a:spcBef>
              <a:spcAft>
                <a:spcPts val="0"/>
              </a:spcAft>
              <a:buClr>
                <a:schemeClr val="dk1"/>
              </a:buClr>
              <a:buSzPts val="1200"/>
              <a:buFont typeface="Calibri"/>
              <a:buChar char="●"/>
            </a:pPr>
            <a:r>
              <a:rPr lang="en" sz="1200" dirty="0"/>
              <a:t>Introduction to transformer models, which represent a significant leap in NLP capabilities.</a:t>
            </a:r>
            <a:endParaRPr sz="1200" dirty="0"/>
          </a:p>
          <a:p>
            <a:pPr marL="914400" lvl="1" indent="-304800" algn="l" rtl="0">
              <a:lnSpc>
                <a:spcPct val="95000"/>
              </a:lnSpc>
              <a:spcBef>
                <a:spcPts val="0"/>
              </a:spcBef>
              <a:spcAft>
                <a:spcPts val="0"/>
              </a:spcAft>
              <a:buClr>
                <a:schemeClr val="dk1"/>
              </a:buClr>
              <a:buSzPts val="1200"/>
              <a:buFont typeface="Calibri"/>
              <a:buChar char="●"/>
            </a:pPr>
            <a:r>
              <a:rPr lang="en" sz="1200" dirty="0"/>
              <a:t>Their ability to understand context and nuances in human language, making them ideal for complex tasks like question-answering.</a:t>
            </a:r>
            <a:endParaRPr sz="1200" dirty="0"/>
          </a:p>
          <a:p>
            <a:pPr marL="457200" lvl="0" indent="-228600" algn="l" rtl="0">
              <a:lnSpc>
                <a:spcPct val="95000"/>
              </a:lnSpc>
              <a:spcBef>
                <a:spcPts val="0"/>
              </a:spcBef>
              <a:spcAft>
                <a:spcPts val="0"/>
              </a:spcAft>
              <a:buClr>
                <a:schemeClr val="dk1"/>
              </a:buClr>
              <a:buSzPts val="1200"/>
              <a:buFont typeface="Calibri"/>
              <a:buNone/>
            </a:pPr>
            <a:r>
              <a:rPr lang="en" sz="1200" b="1" i="1" dirty="0">
                <a:solidFill>
                  <a:srgbClr val="134F5C"/>
                </a:solidFill>
              </a:rPr>
              <a:t>Importance in Medical Applications:</a:t>
            </a:r>
            <a:endParaRPr sz="1200" dirty="0"/>
          </a:p>
          <a:p>
            <a:pPr marL="914400" lvl="1" indent="-304800" algn="l" rtl="0">
              <a:lnSpc>
                <a:spcPct val="95000"/>
              </a:lnSpc>
              <a:spcBef>
                <a:spcPts val="0"/>
              </a:spcBef>
              <a:spcAft>
                <a:spcPts val="0"/>
              </a:spcAft>
              <a:buClr>
                <a:schemeClr val="dk1"/>
              </a:buClr>
              <a:buSzPts val="1200"/>
              <a:buFont typeface="Calibri"/>
              <a:buChar char="●"/>
            </a:pPr>
            <a:r>
              <a:rPr lang="en" sz="1200" dirty="0"/>
              <a:t>Discussing the critical need for accurate, efficient, and responsive tools in medical diagnostics and patient interaction.</a:t>
            </a:r>
            <a:endParaRPr sz="1200" dirty="0"/>
          </a:p>
          <a:p>
            <a:pPr marL="914400" lvl="1" indent="-304800" algn="l" rtl="0">
              <a:lnSpc>
                <a:spcPct val="95000"/>
              </a:lnSpc>
              <a:spcBef>
                <a:spcPts val="0"/>
              </a:spcBef>
              <a:spcAft>
                <a:spcPts val="0"/>
              </a:spcAft>
              <a:buClr>
                <a:schemeClr val="dk1"/>
              </a:buClr>
              <a:buSzPts val="1200"/>
              <a:buFont typeface="Calibri"/>
              <a:buChar char="●"/>
            </a:pPr>
            <a:r>
              <a:rPr lang="en" sz="1200" dirty="0"/>
              <a:t>How AI and NLP can assist healthcare professionals by providing quick access to medical information and supporting patient queries.</a:t>
            </a:r>
            <a:endParaRPr sz="1200" dirty="0"/>
          </a:p>
          <a:p>
            <a:pPr marL="457200" lvl="0" indent="-228600" algn="l" rtl="0">
              <a:lnSpc>
                <a:spcPct val="95000"/>
              </a:lnSpc>
              <a:spcBef>
                <a:spcPts val="0"/>
              </a:spcBef>
              <a:spcAft>
                <a:spcPts val="0"/>
              </a:spcAft>
              <a:buClr>
                <a:schemeClr val="dk1"/>
              </a:buClr>
              <a:buSzPts val="1200"/>
              <a:buFont typeface="Calibri"/>
              <a:buNone/>
            </a:pPr>
            <a:r>
              <a:rPr lang="en" sz="1200" b="1" i="1" dirty="0">
                <a:solidFill>
                  <a:srgbClr val="134F5C"/>
                </a:solidFill>
              </a:rPr>
              <a:t>Challenges and Innovations:</a:t>
            </a:r>
            <a:endParaRPr sz="1200" b="1" i="1" dirty="0">
              <a:solidFill>
                <a:srgbClr val="134F5C"/>
              </a:solidFill>
            </a:endParaRPr>
          </a:p>
          <a:p>
            <a:pPr marL="914400" lvl="1" indent="-304800" algn="l" rtl="0">
              <a:lnSpc>
                <a:spcPct val="95000"/>
              </a:lnSpc>
              <a:spcBef>
                <a:spcPts val="0"/>
              </a:spcBef>
              <a:spcAft>
                <a:spcPts val="0"/>
              </a:spcAft>
              <a:buClr>
                <a:schemeClr val="dk1"/>
              </a:buClr>
              <a:buSzPts val="1200"/>
              <a:buFont typeface="Calibri"/>
              <a:buChar char="●"/>
            </a:pPr>
            <a:r>
              <a:rPr lang="en" sz="1200" dirty="0"/>
              <a:t>Addressing the unique challenges in interpreting medical language and terminologies.</a:t>
            </a:r>
            <a:endParaRPr sz="1200" dirty="0"/>
          </a:p>
          <a:p>
            <a:pPr marL="914400" lvl="1" indent="-304800" algn="l" rtl="0">
              <a:lnSpc>
                <a:spcPct val="95000"/>
              </a:lnSpc>
              <a:spcBef>
                <a:spcPts val="0"/>
              </a:spcBef>
              <a:spcAft>
                <a:spcPts val="0"/>
              </a:spcAft>
              <a:buClr>
                <a:schemeClr val="dk1"/>
              </a:buClr>
              <a:buSzPts val="1200"/>
              <a:buFont typeface="Calibri"/>
              <a:buChar char="●"/>
            </a:pPr>
            <a:r>
              <a:rPr lang="en" sz="1200" dirty="0"/>
              <a:t>The potential of transformer models like BioBERT in bridging the gap between AI and practical healthcare applications.</a:t>
            </a:r>
            <a:endParaRPr sz="1200" dirty="0"/>
          </a:p>
          <a:p>
            <a:pPr marL="0" lvl="0" indent="0" algn="l" rtl="0">
              <a:lnSpc>
                <a:spcPct val="70000"/>
              </a:lnSpc>
              <a:spcBef>
                <a:spcPts val="1500"/>
              </a:spcBef>
              <a:spcAft>
                <a:spcPts val="0"/>
              </a:spcAft>
              <a:buNone/>
            </a:pPr>
            <a:endParaRPr sz="1200"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6"/>
          <p:cNvSpPr txBox="1">
            <a:spLocks noGrp="1"/>
          </p:cNvSpPr>
          <p:nvPr>
            <p:ph type="title"/>
          </p:nvPr>
        </p:nvSpPr>
        <p:spPr>
          <a:xfrm>
            <a:off x="628650" y="-3"/>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a:pPr>
            <a:r>
              <a:rPr lang="en" sz="2900"/>
              <a:t>Datasets:</a:t>
            </a:r>
            <a:endParaRPr sz="2900"/>
          </a:p>
        </p:txBody>
      </p:sp>
      <p:sp>
        <p:nvSpPr>
          <p:cNvPr id="103" name="Google Shape;103;p16"/>
          <p:cNvSpPr txBox="1">
            <a:spLocks noGrp="1"/>
          </p:cNvSpPr>
          <p:nvPr>
            <p:ph type="body" idx="1"/>
          </p:nvPr>
        </p:nvSpPr>
        <p:spPr>
          <a:xfrm>
            <a:off x="136575" y="940050"/>
            <a:ext cx="8818800" cy="3263400"/>
          </a:xfrm>
          <a:prstGeom prst="rect">
            <a:avLst/>
          </a:prstGeom>
        </p:spPr>
        <p:txBody>
          <a:bodyPr spcFirstLastPara="1" wrap="square" lIns="68575" tIns="34275" rIns="68575" bIns="34275" anchor="t" anchorCtr="0">
            <a:normAutofit fontScale="70000" lnSpcReduction="20000"/>
          </a:bodyPr>
          <a:lstStyle/>
          <a:p>
            <a:pPr marL="457200" lvl="0" indent="-228600" algn="l" rtl="0">
              <a:lnSpc>
                <a:spcPct val="115000"/>
              </a:lnSpc>
              <a:spcBef>
                <a:spcPts val="0"/>
              </a:spcBef>
              <a:spcAft>
                <a:spcPts val="0"/>
              </a:spcAft>
              <a:buClr>
                <a:schemeClr val="dk1"/>
              </a:buClr>
              <a:buSzPct val="100000"/>
              <a:buFont typeface="Calibri"/>
              <a:buNone/>
            </a:pPr>
            <a:r>
              <a:rPr lang="en" sz="1589" dirty="0"/>
              <a:t>Introduction to BioASQ:</a:t>
            </a:r>
            <a:endParaRPr sz="1589" dirty="0"/>
          </a:p>
          <a:p>
            <a:pPr marL="914400" lvl="1" indent="-299255" algn="l" rtl="0">
              <a:lnSpc>
                <a:spcPct val="115000"/>
              </a:lnSpc>
              <a:spcBef>
                <a:spcPts val="0"/>
              </a:spcBef>
              <a:spcAft>
                <a:spcPts val="0"/>
              </a:spcAft>
              <a:buClr>
                <a:schemeClr val="dk1"/>
              </a:buClr>
              <a:buSzPct val="100000"/>
              <a:buFont typeface="Calibri"/>
              <a:buChar char="●"/>
            </a:pPr>
            <a:r>
              <a:rPr lang="en" sz="1589" dirty="0"/>
              <a:t>BioASQ is a benchmark dataset specifically designed for biomedical natural language processing and information retrieval.</a:t>
            </a:r>
            <a:endParaRPr sz="1589" dirty="0"/>
          </a:p>
          <a:p>
            <a:pPr marL="914400" lvl="1" indent="-299255" algn="l" rtl="0">
              <a:lnSpc>
                <a:spcPct val="115000"/>
              </a:lnSpc>
              <a:spcBef>
                <a:spcPts val="0"/>
              </a:spcBef>
              <a:spcAft>
                <a:spcPts val="0"/>
              </a:spcAft>
              <a:buClr>
                <a:schemeClr val="dk1"/>
              </a:buClr>
              <a:buSzPct val="100000"/>
              <a:buFont typeface="Calibri"/>
              <a:buChar char="●"/>
            </a:pPr>
            <a:r>
              <a:rPr lang="en" sz="1589" dirty="0"/>
              <a:t>It consists of rich biomedical questions and answers, making it a valuable resource for training NLP models in the medical domain.</a:t>
            </a:r>
            <a:endParaRPr sz="1589" dirty="0"/>
          </a:p>
          <a:p>
            <a:pPr marL="457200" lvl="0" indent="-228600" algn="l" rtl="0">
              <a:lnSpc>
                <a:spcPct val="115000"/>
              </a:lnSpc>
              <a:spcBef>
                <a:spcPts val="0"/>
              </a:spcBef>
              <a:spcAft>
                <a:spcPts val="0"/>
              </a:spcAft>
              <a:buClr>
                <a:schemeClr val="dk1"/>
              </a:buClr>
              <a:buSzPct val="100000"/>
              <a:buFont typeface="Calibri"/>
              <a:buNone/>
            </a:pPr>
            <a:r>
              <a:rPr lang="en" sz="1589" dirty="0"/>
              <a:t>Dataset Composition:</a:t>
            </a:r>
            <a:endParaRPr sz="1589" dirty="0"/>
          </a:p>
          <a:p>
            <a:pPr marL="914400" lvl="1" indent="-299255" algn="l" rtl="0">
              <a:lnSpc>
                <a:spcPct val="115000"/>
              </a:lnSpc>
              <a:spcBef>
                <a:spcPts val="0"/>
              </a:spcBef>
              <a:spcAft>
                <a:spcPts val="0"/>
              </a:spcAft>
              <a:buClr>
                <a:schemeClr val="dk1"/>
              </a:buClr>
              <a:buSzPct val="100000"/>
              <a:buFont typeface="Calibri"/>
              <a:buChar char="●"/>
            </a:pPr>
            <a:r>
              <a:rPr lang="en" sz="1589" dirty="0"/>
              <a:t>The dataset includes a variety of question types (factoid, list, yes/no, summary) along with corresponding answers and relevant articles from biomedical literature.</a:t>
            </a:r>
            <a:endParaRPr sz="1589" dirty="0"/>
          </a:p>
          <a:p>
            <a:pPr marL="914400" lvl="1" indent="-299255" algn="l" rtl="0">
              <a:lnSpc>
                <a:spcPct val="115000"/>
              </a:lnSpc>
              <a:spcBef>
                <a:spcPts val="0"/>
              </a:spcBef>
              <a:spcAft>
                <a:spcPts val="0"/>
              </a:spcAft>
              <a:buClr>
                <a:schemeClr val="dk1"/>
              </a:buClr>
              <a:buSzPct val="100000"/>
              <a:buFont typeface="Calibri"/>
              <a:buChar char="●"/>
            </a:pPr>
            <a:r>
              <a:rPr lang="en" sz="1589" dirty="0"/>
              <a:t>Answers are derived from sources like PubMed articles, providing a real-world and up-to-date medical knowledge base.</a:t>
            </a:r>
            <a:endParaRPr sz="1589" dirty="0"/>
          </a:p>
          <a:p>
            <a:pPr marL="457200" lvl="0" indent="-228600" algn="l" rtl="0">
              <a:lnSpc>
                <a:spcPct val="115000"/>
              </a:lnSpc>
              <a:spcBef>
                <a:spcPts val="0"/>
              </a:spcBef>
              <a:spcAft>
                <a:spcPts val="0"/>
              </a:spcAft>
              <a:buClr>
                <a:schemeClr val="dk1"/>
              </a:buClr>
              <a:buSzPct val="100000"/>
              <a:buFont typeface="Calibri"/>
              <a:buNone/>
            </a:pPr>
            <a:r>
              <a:rPr lang="en" sz="1589" dirty="0"/>
              <a:t>Relevance to NLP and AI in Healthcare:</a:t>
            </a:r>
            <a:endParaRPr sz="1589" dirty="0"/>
          </a:p>
          <a:p>
            <a:pPr marL="914400" lvl="1" indent="-299255" algn="l" rtl="0">
              <a:lnSpc>
                <a:spcPct val="115000"/>
              </a:lnSpc>
              <a:spcBef>
                <a:spcPts val="0"/>
              </a:spcBef>
              <a:spcAft>
                <a:spcPts val="0"/>
              </a:spcAft>
              <a:buClr>
                <a:schemeClr val="dk1"/>
              </a:buClr>
              <a:buSzPct val="100000"/>
              <a:buFont typeface="Calibri"/>
              <a:buChar char="●"/>
            </a:pPr>
            <a:r>
              <a:rPr lang="en" sz="1589" dirty="0"/>
              <a:t>BioASQ is pivotal for developing AI systems capable of understanding and processing complex medical texts.</a:t>
            </a:r>
            <a:endParaRPr sz="1589" dirty="0"/>
          </a:p>
          <a:p>
            <a:pPr marL="914400" lvl="1" indent="-299255" algn="l" rtl="0">
              <a:lnSpc>
                <a:spcPct val="115000"/>
              </a:lnSpc>
              <a:spcBef>
                <a:spcPts val="0"/>
              </a:spcBef>
              <a:spcAft>
                <a:spcPts val="0"/>
              </a:spcAft>
              <a:buClr>
                <a:schemeClr val="dk1"/>
              </a:buClr>
              <a:buSzPct val="100000"/>
              <a:buFont typeface="Calibri"/>
              <a:buChar char="●"/>
            </a:pPr>
            <a:r>
              <a:rPr lang="en" sz="1589" dirty="0"/>
              <a:t>It helps in training models to accurately interpret medical queries and retrieve relevant information.</a:t>
            </a:r>
            <a:endParaRPr sz="1589" dirty="0"/>
          </a:p>
          <a:p>
            <a:pPr marL="457200" lvl="0" indent="-228600" algn="l" rtl="0">
              <a:lnSpc>
                <a:spcPct val="115000"/>
              </a:lnSpc>
              <a:spcBef>
                <a:spcPts val="0"/>
              </a:spcBef>
              <a:spcAft>
                <a:spcPts val="0"/>
              </a:spcAft>
              <a:buClr>
                <a:schemeClr val="dk1"/>
              </a:buClr>
              <a:buSzPct val="100000"/>
              <a:buFont typeface="Calibri"/>
              <a:buNone/>
            </a:pPr>
            <a:r>
              <a:rPr lang="en" sz="1589" dirty="0"/>
              <a:t>Use in Chatbot Development:</a:t>
            </a:r>
            <a:endParaRPr sz="1589" dirty="0"/>
          </a:p>
          <a:p>
            <a:pPr marL="914400" lvl="1" indent="-299255" algn="l" rtl="0">
              <a:lnSpc>
                <a:spcPct val="115000"/>
              </a:lnSpc>
              <a:spcBef>
                <a:spcPts val="0"/>
              </a:spcBef>
              <a:spcAft>
                <a:spcPts val="0"/>
              </a:spcAft>
              <a:buClr>
                <a:schemeClr val="dk1"/>
              </a:buClr>
              <a:buSzPct val="100000"/>
              <a:buFont typeface="Calibri"/>
              <a:buChar char="●"/>
            </a:pPr>
            <a:r>
              <a:rPr lang="en" sz="1589" dirty="0"/>
              <a:t>For the chatbot project, BioASQ provides a foundation for training the chatbot to comprehend and respond to specific medical questions.</a:t>
            </a:r>
            <a:endParaRPr sz="1589" dirty="0"/>
          </a:p>
          <a:p>
            <a:pPr marL="914400" lvl="1" indent="-299255" algn="l" rtl="0">
              <a:lnSpc>
                <a:spcPct val="115000"/>
              </a:lnSpc>
              <a:spcBef>
                <a:spcPts val="0"/>
              </a:spcBef>
              <a:spcAft>
                <a:spcPts val="0"/>
              </a:spcAft>
              <a:buClr>
                <a:schemeClr val="dk1"/>
              </a:buClr>
              <a:buSzPct val="100000"/>
              <a:buFont typeface="Calibri"/>
              <a:buChar char="●"/>
            </a:pPr>
            <a:r>
              <a:rPr lang="en" sz="1589" dirty="0"/>
              <a:t>It aids in enhancing the chatbot’s ability to deliver accurate, contextually relevant medical information.</a:t>
            </a:r>
            <a:endParaRPr sz="1589" dirty="0"/>
          </a:p>
          <a:p>
            <a:pPr marL="457200" lvl="0" indent="-228600" algn="l" rtl="0">
              <a:lnSpc>
                <a:spcPct val="115000"/>
              </a:lnSpc>
              <a:spcBef>
                <a:spcPts val="0"/>
              </a:spcBef>
              <a:spcAft>
                <a:spcPts val="0"/>
              </a:spcAft>
              <a:buClr>
                <a:schemeClr val="dk1"/>
              </a:buClr>
              <a:buSzPct val="100000"/>
              <a:buFont typeface="Calibri"/>
              <a:buNone/>
            </a:pPr>
            <a:r>
              <a:rPr lang="en" sz="1589" dirty="0"/>
              <a:t>Challenges and Opportunities:</a:t>
            </a:r>
            <a:endParaRPr sz="1589" dirty="0"/>
          </a:p>
          <a:p>
            <a:pPr marL="914400" lvl="1" indent="-299255" algn="l" rtl="0">
              <a:lnSpc>
                <a:spcPct val="115000"/>
              </a:lnSpc>
              <a:spcBef>
                <a:spcPts val="0"/>
              </a:spcBef>
              <a:spcAft>
                <a:spcPts val="0"/>
              </a:spcAft>
              <a:buClr>
                <a:schemeClr val="dk1"/>
              </a:buClr>
              <a:buSzPct val="100000"/>
              <a:buFont typeface="Calibri"/>
              <a:buChar char="●"/>
            </a:pPr>
            <a:r>
              <a:rPr lang="en" sz="1589" dirty="0"/>
              <a:t>Discuss the challenges of working with specialized medical content, such as technical language and the need for high accuracy.</a:t>
            </a:r>
            <a:endParaRPr sz="1589" dirty="0"/>
          </a:p>
          <a:p>
            <a:pPr marL="914400" lvl="1" indent="-299255" algn="l" rtl="0">
              <a:lnSpc>
                <a:spcPct val="115000"/>
              </a:lnSpc>
              <a:spcBef>
                <a:spcPts val="0"/>
              </a:spcBef>
              <a:spcAft>
                <a:spcPts val="0"/>
              </a:spcAft>
              <a:buClr>
                <a:schemeClr val="dk1"/>
              </a:buClr>
              <a:buSzPct val="100000"/>
              <a:buFont typeface="Calibri"/>
              <a:buChar char="●"/>
            </a:pPr>
            <a:r>
              <a:rPr lang="en" sz="1589" dirty="0"/>
              <a:t>Highlight the opportunity to contribute to advanced medical assistance through AI and NLP.</a:t>
            </a:r>
            <a:endParaRPr sz="1589" dirty="0"/>
          </a:p>
          <a:p>
            <a:pPr marL="0" lvl="0" indent="0" algn="l" rtl="0">
              <a:spcBef>
                <a:spcPts val="1500"/>
              </a:spcBef>
              <a:spcAft>
                <a:spcPts val="0"/>
              </a:spcAft>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628650" y="-75331"/>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a:pPr>
            <a:r>
              <a:rPr lang="en" sz="2900" dirty="0"/>
              <a:t>BioASQ Dataset:</a:t>
            </a:r>
            <a:endParaRPr dirty="0"/>
          </a:p>
        </p:txBody>
      </p:sp>
      <p:sp>
        <p:nvSpPr>
          <p:cNvPr id="109" name="Google Shape;109;p17"/>
          <p:cNvSpPr txBox="1">
            <a:spLocks noGrp="1"/>
          </p:cNvSpPr>
          <p:nvPr>
            <p:ph type="body" idx="1"/>
          </p:nvPr>
        </p:nvSpPr>
        <p:spPr>
          <a:xfrm>
            <a:off x="246600" y="645571"/>
            <a:ext cx="8650800" cy="3453000"/>
          </a:xfrm>
          <a:prstGeom prst="rect">
            <a:avLst/>
          </a:prstGeom>
        </p:spPr>
        <p:txBody>
          <a:bodyPr spcFirstLastPara="1" wrap="square" lIns="68575" tIns="34275" rIns="68575" bIns="34275" anchor="t" anchorCtr="0">
            <a:normAutofit/>
          </a:bodyPr>
          <a:lstStyle/>
          <a:p>
            <a:pPr marL="457200" lvl="0" indent="-304800" algn="l" rtl="0">
              <a:lnSpc>
                <a:spcPct val="115000"/>
              </a:lnSpc>
              <a:spcBef>
                <a:spcPts val="0"/>
              </a:spcBef>
              <a:spcAft>
                <a:spcPts val="0"/>
              </a:spcAft>
              <a:buSzPts val="1200"/>
              <a:buAutoNum type="arabicPeriod"/>
            </a:pPr>
            <a:r>
              <a:rPr lang="en" sz="1200" b="1" dirty="0"/>
              <a:t>Datasets for Task A (Semantic Indexing)</a:t>
            </a:r>
            <a:endParaRPr sz="1200" b="1" dirty="0"/>
          </a:p>
          <a:p>
            <a:pPr marL="457200" lvl="0" indent="0" algn="l" rtl="0">
              <a:lnSpc>
                <a:spcPct val="115000"/>
              </a:lnSpc>
              <a:spcBef>
                <a:spcPts val="0"/>
              </a:spcBef>
              <a:spcAft>
                <a:spcPts val="0"/>
              </a:spcAft>
              <a:buClr>
                <a:schemeClr val="dk1"/>
              </a:buClr>
              <a:buSzPts val="1100"/>
              <a:buFont typeface="Arial"/>
              <a:buNone/>
            </a:pPr>
            <a:r>
              <a:rPr lang="en" sz="1200" dirty="0"/>
              <a:t>These datasets are designed for the challenge of automatically assigning semantic labels or indexes to biomedical documents, such as journal articles. This task is essential for organizing and retrieving information in large biomedical databases.</a:t>
            </a:r>
            <a:endParaRPr sz="1200" dirty="0"/>
          </a:p>
          <a:p>
            <a:pPr marL="457200" lvl="0" indent="-304800" algn="l" rtl="0">
              <a:lnSpc>
                <a:spcPct val="115000"/>
              </a:lnSpc>
              <a:spcBef>
                <a:spcPts val="0"/>
              </a:spcBef>
              <a:spcAft>
                <a:spcPts val="0"/>
              </a:spcAft>
              <a:buSzPts val="1200"/>
              <a:buAutoNum type="arabicPeriod" startAt="2"/>
            </a:pPr>
            <a:r>
              <a:rPr lang="en" sz="1200" b="1" dirty="0"/>
              <a:t>Datasets for Task B (Biomedical Question Answering)</a:t>
            </a:r>
            <a:endParaRPr sz="1200" b="1" dirty="0"/>
          </a:p>
          <a:p>
            <a:pPr marL="457200" lvl="0" indent="0" algn="l" rtl="0">
              <a:lnSpc>
                <a:spcPct val="115000"/>
              </a:lnSpc>
              <a:spcBef>
                <a:spcPts val="0"/>
              </a:spcBef>
              <a:spcAft>
                <a:spcPts val="0"/>
              </a:spcAft>
              <a:buClr>
                <a:schemeClr val="dk1"/>
              </a:buClr>
              <a:buSzPts val="1100"/>
              <a:buFont typeface="Arial"/>
              <a:buNone/>
            </a:pPr>
            <a:r>
              <a:rPr lang="en" sz="1200" dirty="0"/>
              <a:t>Task B focuses on developing systems capable of answering biomedical questions. The datasets include questions and corresponding answers, which can be factual, list-based, yes/no, or summary questions, along with relevant biomedical documents or articles.</a:t>
            </a:r>
            <a:endParaRPr sz="1200" dirty="0"/>
          </a:p>
          <a:p>
            <a:pPr marL="457200" lvl="0" indent="-304800" algn="l" rtl="0">
              <a:lnSpc>
                <a:spcPct val="115000"/>
              </a:lnSpc>
              <a:spcBef>
                <a:spcPts val="0"/>
              </a:spcBef>
              <a:spcAft>
                <a:spcPts val="0"/>
              </a:spcAft>
              <a:buSzPts val="1200"/>
              <a:buAutoNum type="arabicPeriod" startAt="3"/>
            </a:pPr>
            <a:r>
              <a:rPr lang="en" sz="1200" b="1" dirty="0"/>
              <a:t>Datasets for Task MESINESP</a:t>
            </a:r>
            <a:endParaRPr sz="1200" b="1" dirty="0"/>
          </a:p>
          <a:p>
            <a:pPr marL="457200" lvl="0" indent="0" algn="l" rtl="0">
              <a:lnSpc>
                <a:spcPct val="115000"/>
              </a:lnSpc>
              <a:spcBef>
                <a:spcPts val="0"/>
              </a:spcBef>
              <a:spcAft>
                <a:spcPts val="0"/>
              </a:spcAft>
              <a:buClr>
                <a:schemeClr val="dk1"/>
              </a:buClr>
              <a:buSzPts val="1100"/>
              <a:buFont typeface="Arial"/>
              <a:buNone/>
            </a:pPr>
            <a:r>
              <a:rPr lang="en" sz="1200" dirty="0"/>
              <a:t>This task is specifically focused on semantic indexing but in the Spanish language. It involves the classification and indexing of Spanish biomedical literature.</a:t>
            </a:r>
            <a:endParaRPr sz="1200" dirty="0"/>
          </a:p>
          <a:p>
            <a:pPr marL="457200" lvl="0" indent="-304800" algn="l" rtl="0">
              <a:lnSpc>
                <a:spcPct val="115000"/>
              </a:lnSpc>
              <a:spcBef>
                <a:spcPts val="0"/>
              </a:spcBef>
              <a:spcAft>
                <a:spcPts val="0"/>
              </a:spcAft>
              <a:buSzPts val="1200"/>
              <a:buAutoNum type="arabicPeriod" startAt="4"/>
            </a:pPr>
            <a:r>
              <a:rPr lang="en" sz="1200" b="1" dirty="0"/>
              <a:t>Datasets for Task C</a:t>
            </a:r>
            <a:endParaRPr sz="1200" b="1" dirty="0"/>
          </a:p>
          <a:p>
            <a:pPr marL="457200" lvl="0" indent="0" algn="l" rtl="0">
              <a:lnSpc>
                <a:spcPct val="115000"/>
              </a:lnSpc>
              <a:spcBef>
                <a:spcPts val="0"/>
              </a:spcBef>
              <a:spcAft>
                <a:spcPts val="0"/>
              </a:spcAft>
              <a:buClr>
                <a:schemeClr val="dk1"/>
              </a:buClr>
              <a:buSzPts val="1100"/>
              <a:buFont typeface="Arial"/>
              <a:buNone/>
            </a:pPr>
            <a:r>
              <a:rPr lang="en" sz="1200" dirty="0"/>
              <a:t>Task C datasets are typically used for more advanced biomedical question-answering challenges, which may include complex queries requiring detailed and nuanced responses.</a:t>
            </a:r>
            <a:endParaRPr sz="1200" dirty="0"/>
          </a:p>
          <a:p>
            <a:pPr marL="457200" lvl="0" indent="-304800" algn="l" rtl="0">
              <a:lnSpc>
                <a:spcPct val="115000"/>
              </a:lnSpc>
              <a:spcBef>
                <a:spcPts val="0"/>
              </a:spcBef>
              <a:spcAft>
                <a:spcPts val="0"/>
              </a:spcAft>
              <a:buSzPts val="1200"/>
              <a:buAutoNum type="arabicPeriod" startAt="5"/>
            </a:pPr>
            <a:r>
              <a:rPr lang="en" sz="1200" b="1" dirty="0"/>
              <a:t>Datasets for Task Synergy</a:t>
            </a:r>
            <a:endParaRPr sz="1200" b="1" dirty="0"/>
          </a:p>
          <a:p>
            <a:pPr marL="457200" lvl="0" indent="0" algn="l" rtl="0">
              <a:lnSpc>
                <a:spcPct val="115000"/>
              </a:lnSpc>
              <a:spcBef>
                <a:spcPts val="0"/>
              </a:spcBef>
              <a:spcAft>
                <a:spcPts val="0"/>
              </a:spcAft>
              <a:buClr>
                <a:schemeClr val="dk1"/>
              </a:buClr>
              <a:buSzPts val="1100"/>
              <a:buFont typeface="Arial"/>
              <a:buNone/>
            </a:pPr>
            <a:r>
              <a:rPr lang="en" sz="1200" dirty="0"/>
              <a:t>These datasets are designed for challenges that combine different aspects of biomedical NLP, such as semantic indexing and question answering, to create more comprehensive and integrated systems.</a:t>
            </a:r>
            <a:endParaRPr sz="1200" dirty="0"/>
          </a:p>
          <a:p>
            <a:pPr marL="0" lvl="0" indent="0" algn="l" rtl="0">
              <a:spcBef>
                <a:spcPts val="800"/>
              </a:spcBef>
              <a:spcAft>
                <a:spcPts val="0"/>
              </a:spcAft>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99D2C73-08B0-4F6B-A8E9-4651E6BDB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68DB88C-7EF2-487C-85D1-848F61F13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360045"/>
            <a:ext cx="8428482" cy="442341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Description automatically generated">
            <a:extLst>
              <a:ext uri="{FF2B5EF4-FFF2-40B4-BE49-F238E27FC236}">
                <a16:creationId xmlns:a16="http://schemas.microsoft.com/office/drawing/2014/main" id="{1375984E-BC51-062C-44BC-79ECF98E33CA}"/>
              </a:ext>
            </a:extLst>
          </p:cNvPr>
          <p:cNvPicPr>
            <a:picLocks noChangeAspect="1"/>
          </p:cNvPicPr>
          <p:nvPr/>
        </p:nvPicPr>
        <p:blipFill rotWithShape="1">
          <a:blip r:embed="rId3"/>
          <a:srcRect r="16830"/>
          <a:stretch/>
        </p:blipFill>
        <p:spPr>
          <a:xfrm>
            <a:off x="482600" y="482600"/>
            <a:ext cx="4029074" cy="4178299"/>
          </a:xfrm>
          <a:prstGeom prst="rect">
            <a:avLst/>
          </a:prstGeom>
        </p:spPr>
      </p:pic>
      <p:pic>
        <p:nvPicPr>
          <p:cNvPr id="5" name="Picture 4" descr="A red lines on a white background&#10;&#10;Description automatically generated">
            <a:extLst>
              <a:ext uri="{FF2B5EF4-FFF2-40B4-BE49-F238E27FC236}">
                <a16:creationId xmlns:a16="http://schemas.microsoft.com/office/drawing/2014/main" id="{BCFBD2C2-89C5-C591-D546-B373C7033725}"/>
              </a:ext>
            </a:extLst>
          </p:cNvPr>
          <p:cNvPicPr>
            <a:picLocks noChangeAspect="1"/>
          </p:cNvPicPr>
          <p:nvPr/>
        </p:nvPicPr>
        <p:blipFill rotWithShape="1">
          <a:blip r:embed="rId4"/>
          <a:srcRect r="40455" b="-1"/>
          <a:stretch/>
        </p:blipFill>
        <p:spPr>
          <a:xfrm>
            <a:off x="4632324" y="482600"/>
            <a:ext cx="4029075" cy="4178299"/>
          </a:xfrm>
          <a:prstGeom prst="rect">
            <a:avLst/>
          </a:prstGeom>
        </p:spPr>
      </p:pic>
    </p:spTree>
    <p:extLst>
      <p:ext uri="{BB962C8B-B14F-4D97-AF65-F5344CB8AC3E}">
        <p14:creationId xmlns:p14="http://schemas.microsoft.com/office/powerpoint/2010/main" val="2881787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628650" y="45472"/>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a:pPr>
            <a:r>
              <a:rPr lang="en" sz="2900"/>
              <a:t>Domain Specific PDF Datasets:</a:t>
            </a:r>
            <a:endParaRPr/>
          </a:p>
        </p:txBody>
      </p:sp>
      <p:pic>
        <p:nvPicPr>
          <p:cNvPr id="115" name="Google Shape;115;p18"/>
          <p:cNvPicPr preferRelativeResize="0"/>
          <p:nvPr/>
        </p:nvPicPr>
        <p:blipFill>
          <a:blip r:embed="rId3">
            <a:alphaModFix/>
          </a:blip>
          <a:stretch>
            <a:fillRect/>
          </a:stretch>
        </p:blipFill>
        <p:spPr>
          <a:xfrm>
            <a:off x="3356200" y="872347"/>
            <a:ext cx="2431598" cy="357065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628650" y="-3"/>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startAt="3"/>
            </a:pPr>
            <a:r>
              <a:rPr lang="en" sz="2900"/>
              <a:t>Transfer Model Selection</a:t>
            </a:r>
            <a:endParaRPr sz="2900"/>
          </a:p>
        </p:txBody>
      </p:sp>
      <p:sp>
        <p:nvSpPr>
          <p:cNvPr id="121" name="Google Shape;121;p19"/>
          <p:cNvSpPr txBox="1">
            <a:spLocks noGrp="1"/>
          </p:cNvSpPr>
          <p:nvPr>
            <p:ph type="body" idx="1"/>
          </p:nvPr>
        </p:nvSpPr>
        <p:spPr>
          <a:xfrm>
            <a:off x="104050" y="751375"/>
            <a:ext cx="8776200" cy="3684000"/>
          </a:xfrm>
          <a:prstGeom prst="rect">
            <a:avLst/>
          </a:prstGeom>
        </p:spPr>
        <p:txBody>
          <a:bodyPr spcFirstLastPara="1" wrap="square" lIns="68575" tIns="34275" rIns="68575" bIns="34275" anchor="t" anchorCtr="0">
            <a:noAutofit/>
          </a:bodyPr>
          <a:lstStyle/>
          <a:p>
            <a:pPr marL="457200" lvl="0" indent="-228600" algn="l" rtl="0">
              <a:lnSpc>
                <a:spcPct val="95000"/>
              </a:lnSpc>
              <a:spcBef>
                <a:spcPts val="0"/>
              </a:spcBef>
              <a:spcAft>
                <a:spcPts val="0"/>
              </a:spcAft>
              <a:buClr>
                <a:schemeClr val="dk1"/>
              </a:buClr>
              <a:buSzPts val="1110"/>
              <a:buFont typeface="Calibri"/>
              <a:buNone/>
            </a:pPr>
            <a:r>
              <a:rPr lang="en" sz="1110" dirty="0"/>
              <a:t>Selecting the Right Transformer Model:</a:t>
            </a:r>
            <a:endParaRPr sz="1110" dirty="0"/>
          </a:p>
          <a:p>
            <a:pPr marL="914400" lvl="1" indent="-299085" algn="l" rtl="0">
              <a:lnSpc>
                <a:spcPct val="95000"/>
              </a:lnSpc>
              <a:spcBef>
                <a:spcPts val="0"/>
              </a:spcBef>
              <a:spcAft>
                <a:spcPts val="0"/>
              </a:spcAft>
              <a:buClr>
                <a:schemeClr val="dk1"/>
              </a:buClr>
              <a:buSzPts val="1110"/>
              <a:buFont typeface="Calibri"/>
              <a:buChar char="●"/>
            </a:pPr>
            <a:r>
              <a:rPr lang="en" sz="1110" dirty="0"/>
              <a:t>Importance of choosing a transformer model that aligns well with the complexities of medical data.</a:t>
            </a:r>
            <a:endParaRPr sz="1110" dirty="0"/>
          </a:p>
          <a:p>
            <a:pPr marL="914400" lvl="1" indent="-299085" algn="l" rtl="0">
              <a:lnSpc>
                <a:spcPct val="95000"/>
              </a:lnSpc>
              <a:spcBef>
                <a:spcPts val="0"/>
              </a:spcBef>
              <a:spcAft>
                <a:spcPts val="0"/>
              </a:spcAft>
              <a:buClr>
                <a:schemeClr val="dk1"/>
              </a:buClr>
              <a:buSzPts val="1110"/>
              <a:buFont typeface="Calibri"/>
              <a:buChar char="●"/>
            </a:pPr>
            <a:r>
              <a:rPr lang="en" sz="1110" dirty="0"/>
              <a:t>Criteria include language understanding depth, ability to process technical terms, and dataset compatibility.</a:t>
            </a:r>
            <a:endParaRPr sz="1110" dirty="0"/>
          </a:p>
          <a:p>
            <a:pPr marL="457200" lvl="0" indent="-228600" algn="l" rtl="0">
              <a:lnSpc>
                <a:spcPct val="95000"/>
              </a:lnSpc>
              <a:spcBef>
                <a:spcPts val="0"/>
              </a:spcBef>
              <a:spcAft>
                <a:spcPts val="0"/>
              </a:spcAft>
              <a:buClr>
                <a:schemeClr val="dk1"/>
              </a:buClr>
              <a:buSzPts val="1110"/>
              <a:buFont typeface="Calibri"/>
              <a:buNone/>
            </a:pPr>
            <a:r>
              <a:rPr lang="en" sz="1110" dirty="0"/>
              <a:t>Why BioBERT Stands Out:</a:t>
            </a:r>
            <a:endParaRPr sz="1110" dirty="0"/>
          </a:p>
          <a:p>
            <a:pPr marL="914400" lvl="1" indent="-299085" algn="l" rtl="0">
              <a:lnSpc>
                <a:spcPct val="95000"/>
              </a:lnSpc>
              <a:spcBef>
                <a:spcPts val="0"/>
              </a:spcBef>
              <a:spcAft>
                <a:spcPts val="0"/>
              </a:spcAft>
              <a:buClr>
                <a:schemeClr val="dk1"/>
              </a:buClr>
              <a:buSzPts val="1110"/>
              <a:buFont typeface="Calibri"/>
              <a:buChar char="●"/>
            </a:pPr>
            <a:r>
              <a:rPr lang="en" sz="1110" dirty="0"/>
              <a:t>BioBERT (Biomedical Bidirectional Encoder Representations from Transformers) is specifically pre-trained on large-scale biomedical corpora.</a:t>
            </a:r>
            <a:endParaRPr sz="1110" dirty="0"/>
          </a:p>
          <a:p>
            <a:pPr marL="914400" lvl="1" indent="-299085" algn="l" rtl="0">
              <a:lnSpc>
                <a:spcPct val="95000"/>
              </a:lnSpc>
              <a:spcBef>
                <a:spcPts val="0"/>
              </a:spcBef>
              <a:spcAft>
                <a:spcPts val="0"/>
              </a:spcAft>
              <a:buClr>
                <a:schemeClr val="dk1"/>
              </a:buClr>
              <a:buSzPts val="1110"/>
              <a:buFont typeface="Calibri"/>
              <a:buChar char="●"/>
            </a:pPr>
            <a:r>
              <a:rPr lang="en" sz="1110" dirty="0"/>
              <a:t>It extends the original BERT architecture by continuing the pre-training on biomedical domain texts, making it highly effective for medical NLP tasks.</a:t>
            </a:r>
            <a:endParaRPr sz="1110" dirty="0"/>
          </a:p>
          <a:p>
            <a:pPr marL="457200" lvl="0" indent="-228600" algn="l" rtl="0">
              <a:lnSpc>
                <a:spcPct val="95000"/>
              </a:lnSpc>
              <a:spcBef>
                <a:spcPts val="0"/>
              </a:spcBef>
              <a:spcAft>
                <a:spcPts val="0"/>
              </a:spcAft>
              <a:buClr>
                <a:schemeClr val="dk1"/>
              </a:buClr>
              <a:buSzPts val="1110"/>
              <a:buFont typeface="Calibri"/>
              <a:buNone/>
            </a:pPr>
            <a:r>
              <a:rPr lang="en" sz="1110" dirty="0"/>
              <a:t>BioBERT and BioASQ Synergy:</a:t>
            </a:r>
            <a:endParaRPr sz="1110" dirty="0"/>
          </a:p>
          <a:p>
            <a:pPr marL="914400" lvl="1" indent="-299085" algn="l" rtl="0">
              <a:lnSpc>
                <a:spcPct val="95000"/>
              </a:lnSpc>
              <a:spcBef>
                <a:spcPts val="0"/>
              </a:spcBef>
              <a:spcAft>
                <a:spcPts val="0"/>
              </a:spcAft>
              <a:buClr>
                <a:schemeClr val="dk1"/>
              </a:buClr>
              <a:buSzPts val="1110"/>
              <a:buFont typeface="Calibri"/>
              <a:buChar char="●"/>
            </a:pPr>
            <a:r>
              <a:rPr lang="en" sz="1110" dirty="0" err="1"/>
              <a:t>BioBERT's</a:t>
            </a:r>
            <a:r>
              <a:rPr lang="en" sz="1110" dirty="0"/>
              <a:t> pre-training on biomedical literature, such as PubMed abstracts and PMC full-text articles, complements the nature of BioASQ.</a:t>
            </a:r>
            <a:endParaRPr sz="1110" dirty="0"/>
          </a:p>
          <a:p>
            <a:pPr marL="914400" lvl="1" indent="-299085" algn="l" rtl="0">
              <a:lnSpc>
                <a:spcPct val="95000"/>
              </a:lnSpc>
              <a:spcBef>
                <a:spcPts val="0"/>
              </a:spcBef>
              <a:spcAft>
                <a:spcPts val="0"/>
              </a:spcAft>
              <a:buClr>
                <a:schemeClr val="dk1"/>
              </a:buClr>
              <a:buSzPts val="1110"/>
              <a:buFont typeface="Calibri"/>
              <a:buChar char="●"/>
            </a:pPr>
            <a:r>
              <a:rPr lang="en" sz="1110" dirty="0"/>
              <a:t>This synergy enhances the model's ability to understand and accurately respond to </a:t>
            </a:r>
            <a:r>
              <a:rPr lang="en" sz="1110" dirty="0" err="1"/>
              <a:t>BioASQ's</a:t>
            </a:r>
            <a:r>
              <a:rPr lang="en" sz="1110" dirty="0"/>
              <a:t> biomedical questions and answers.</a:t>
            </a:r>
            <a:endParaRPr sz="1110" dirty="0"/>
          </a:p>
          <a:p>
            <a:pPr marL="457200" lvl="0" indent="-228600" algn="l" rtl="0">
              <a:lnSpc>
                <a:spcPct val="95000"/>
              </a:lnSpc>
              <a:spcBef>
                <a:spcPts val="0"/>
              </a:spcBef>
              <a:spcAft>
                <a:spcPts val="0"/>
              </a:spcAft>
              <a:buClr>
                <a:schemeClr val="dk1"/>
              </a:buClr>
              <a:buSzPts val="1110"/>
              <a:buFont typeface="Calibri"/>
              <a:buNone/>
            </a:pPr>
            <a:r>
              <a:rPr lang="en" sz="1110" dirty="0"/>
              <a:t>Performance Metrics:</a:t>
            </a:r>
            <a:endParaRPr sz="1110" dirty="0"/>
          </a:p>
          <a:p>
            <a:pPr marL="914400" lvl="1" indent="-299085" algn="l" rtl="0">
              <a:lnSpc>
                <a:spcPct val="95000"/>
              </a:lnSpc>
              <a:spcBef>
                <a:spcPts val="0"/>
              </a:spcBef>
              <a:spcAft>
                <a:spcPts val="0"/>
              </a:spcAft>
              <a:buClr>
                <a:schemeClr val="dk1"/>
              </a:buClr>
              <a:buSzPts val="1110"/>
              <a:buFont typeface="Calibri"/>
              <a:buChar char="●"/>
            </a:pPr>
            <a:r>
              <a:rPr lang="en" sz="1110" dirty="0"/>
              <a:t>BioBERT has demonstrated superior performance in various biomedical NLP tasks, including named entity recognition, relation extraction, and question answering.</a:t>
            </a:r>
            <a:endParaRPr sz="1110" dirty="0"/>
          </a:p>
          <a:p>
            <a:pPr marL="914400" lvl="1" indent="-299085" algn="l" rtl="0">
              <a:lnSpc>
                <a:spcPct val="95000"/>
              </a:lnSpc>
              <a:spcBef>
                <a:spcPts val="0"/>
              </a:spcBef>
              <a:spcAft>
                <a:spcPts val="0"/>
              </a:spcAft>
              <a:buClr>
                <a:schemeClr val="dk1"/>
              </a:buClr>
              <a:buSzPts val="1110"/>
              <a:buFont typeface="Calibri"/>
              <a:buChar char="●"/>
            </a:pPr>
            <a:r>
              <a:rPr lang="en" sz="1110" dirty="0"/>
              <a:t>Cite specific benchmarks or studies where BioBERT excelled in tasks relevant to the BioASQ dataset.</a:t>
            </a:r>
            <a:endParaRPr sz="1110" dirty="0"/>
          </a:p>
          <a:p>
            <a:pPr marL="457200" lvl="0" indent="-228600" algn="l" rtl="0">
              <a:lnSpc>
                <a:spcPct val="95000"/>
              </a:lnSpc>
              <a:spcBef>
                <a:spcPts val="0"/>
              </a:spcBef>
              <a:spcAft>
                <a:spcPts val="0"/>
              </a:spcAft>
              <a:buClr>
                <a:schemeClr val="dk1"/>
              </a:buClr>
              <a:buSzPts val="1110"/>
              <a:buFont typeface="Calibri"/>
              <a:buNone/>
            </a:pPr>
            <a:r>
              <a:rPr lang="en" sz="1110" dirty="0"/>
              <a:t>Implications for Chatbot Development:</a:t>
            </a:r>
            <a:endParaRPr sz="1110" dirty="0"/>
          </a:p>
          <a:p>
            <a:pPr marL="914400" lvl="1" indent="-299085" algn="l" rtl="0">
              <a:lnSpc>
                <a:spcPct val="95000"/>
              </a:lnSpc>
              <a:spcBef>
                <a:spcPts val="0"/>
              </a:spcBef>
              <a:spcAft>
                <a:spcPts val="0"/>
              </a:spcAft>
              <a:buClr>
                <a:schemeClr val="dk1"/>
              </a:buClr>
              <a:buSzPts val="1110"/>
              <a:buFont typeface="Calibri"/>
              <a:buChar char="●"/>
            </a:pPr>
            <a:r>
              <a:rPr lang="en" sz="1110" dirty="0"/>
              <a:t>Training the chatbot using BioBERT and the BioASQ dataset ensures high-quality, domain-specific responses.</a:t>
            </a:r>
            <a:endParaRPr sz="1110" dirty="0"/>
          </a:p>
          <a:p>
            <a:pPr marL="914400" lvl="1" indent="-299085" algn="l" rtl="0">
              <a:lnSpc>
                <a:spcPct val="95000"/>
              </a:lnSpc>
              <a:spcBef>
                <a:spcPts val="0"/>
              </a:spcBef>
              <a:spcAft>
                <a:spcPts val="0"/>
              </a:spcAft>
              <a:buClr>
                <a:schemeClr val="dk1"/>
              </a:buClr>
              <a:buSzPts val="1110"/>
              <a:buFont typeface="Calibri"/>
              <a:buChar char="●"/>
            </a:pPr>
            <a:r>
              <a:rPr lang="en" sz="1110" dirty="0"/>
              <a:t>The combination is ideal for developing a chatbot that can handle intricate medical inquiries reliably.</a:t>
            </a:r>
            <a:endParaRPr sz="1110" dirty="0"/>
          </a:p>
          <a:p>
            <a:pPr marL="0" lvl="0" indent="0" algn="l" rtl="0">
              <a:lnSpc>
                <a:spcPct val="70000"/>
              </a:lnSpc>
              <a:spcBef>
                <a:spcPts val="1500"/>
              </a:spcBef>
              <a:spcAft>
                <a:spcPts val="0"/>
              </a:spcAft>
              <a:buSzPts val="1018"/>
              <a:buNone/>
            </a:pPr>
            <a:endParaRPr sz="204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0"/>
          <p:cNvSpPr txBox="1">
            <a:spLocks noGrp="1"/>
          </p:cNvSpPr>
          <p:nvPr>
            <p:ph type="title"/>
          </p:nvPr>
        </p:nvSpPr>
        <p:spPr>
          <a:xfrm>
            <a:off x="628650" y="-1"/>
            <a:ext cx="7886700" cy="7806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dirty="0"/>
              <a:t>BERT VS. BioBERT Model</a:t>
            </a:r>
            <a:endParaRPr dirty="0"/>
          </a:p>
        </p:txBody>
      </p:sp>
      <p:pic>
        <p:nvPicPr>
          <p:cNvPr id="127" name="Google Shape;127;p20"/>
          <p:cNvPicPr preferRelativeResize="0"/>
          <p:nvPr/>
        </p:nvPicPr>
        <p:blipFill>
          <a:blip r:embed="rId3">
            <a:alphaModFix/>
          </a:blip>
          <a:stretch>
            <a:fillRect/>
          </a:stretch>
        </p:blipFill>
        <p:spPr>
          <a:xfrm>
            <a:off x="197650" y="1071700"/>
            <a:ext cx="4161075" cy="2809875"/>
          </a:xfrm>
          <a:prstGeom prst="rect">
            <a:avLst/>
          </a:prstGeom>
          <a:noFill/>
          <a:ln>
            <a:noFill/>
          </a:ln>
        </p:spPr>
      </p:pic>
      <p:pic>
        <p:nvPicPr>
          <p:cNvPr id="128" name="Google Shape;128;p20"/>
          <p:cNvPicPr preferRelativeResize="0"/>
          <p:nvPr/>
        </p:nvPicPr>
        <p:blipFill>
          <a:blip r:embed="rId4">
            <a:alphaModFix/>
          </a:blip>
          <a:stretch>
            <a:fillRect/>
          </a:stretch>
        </p:blipFill>
        <p:spPr>
          <a:xfrm>
            <a:off x="5122525" y="1071701"/>
            <a:ext cx="3950375" cy="2809875"/>
          </a:xfrm>
          <a:prstGeom prst="rect">
            <a:avLst/>
          </a:prstGeom>
          <a:noFill/>
          <a:ln>
            <a:noFill/>
          </a:ln>
        </p:spPr>
      </p:pic>
      <p:graphicFrame>
        <p:nvGraphicFramePr>
          <p:cNvPr id="129" name="Google Shape;129;p20"/>
          <p:cNvGraphicFramePr/>
          <p:nvPr/>
        </p:nvGraphicFramePr>
        <p:xfrm>
          <a:off x="157375" y="675500"/>
          <a:ext cx="8915525" cy="3248935"/>
        </p:xfrm>
        <a:graphic>
          <a:graphicData uri="http://schemas.openxmlformats.org/drawingml/2006/table">
            <a:tbl>
              <a:tblPr>
                <a:noFill/>
                <a:tableStyleId>{0F5D488B-57C8-4DB3-8B99-962BA5535B3B}</a:tableStyleId>
              </a:tblPr>
              <a:tblGrid>
                <a:gridCol w="4471400">
                  <a:extLst>
                    <a:ext uri="{9D8B030D-6E8A-4147-A177-3AD203B41FA5}">
                      <a16:colId xmlns:a16="http://schemas.microsoft.com/office/drawing/2014/main" val="20000"/>
                    </a:ext>
                  </a:extLst>
                </a:gridCol>
                <a:gridCol w="4444125">
                  <a:extLst>
                    <a:ext uri="{9D8B030D-6E8A-4147-A177-3AD203B41FA5}">
                      <a16:colId xmlns:a16="http://schemas.microsoft.com/office/drawing/2014/main" val="20001"/>
                    </a:ext>
                  </a:extLst>
                </a:gridCol>
              </a:tblGrid>
              <a:tr h="358650">
                <a:tc>
                  <a:txBody>
                    <a:bodyPr/>
                    <a:lstStyle/>
                    <a:p>
                      <a:pPr marL="0" lvl="0" indent="0" algn="ctr" rtl="0">
                        <a:spcBef>
                          <a:spcPts val="0"/>
                        </a:spcBef>
                        <a:spcAft>
                          <a:spcPts val="0"/>
                        </a:spcAft>
                        <a:buNone/>
                      </a:pPr>
                      <a:r>
                        <a:rPr lang="en" b="1">
                          <a:solidFill>
                            <a:srgbClr val="38761D"/>
                          </a:solidFill>
                        </a:rPr>
                        <a:t>BERT</a:t>
                      </a:r>
                      <a:endParaRPr b="1">
                        <a:solidFill>
                          <a:srgbClr val="38761D"/>
                        </a:solidFill>
                      </a:endParaRPr>
                    </a:p>
                  </a:txBody>
                  <a:tcPr marL="91425" marR="91425" marT="91425" marB="91425" anchor="ctr">
                    <a:lnL w="9525" cap="flat" cmpd="sng">
                      <a:solidFill>
                        <a:srgbClr val="274E13"/>
                      </a:solidFill>
                      <a:prstDash val="solid"/>
                      <a:round/>
                      <a:headEnd type="none" w="sm" len="sm"/>
                      <a:tailEnd type="none" w="sm" len="sm"/>
                    </a:lnL>
                    <a:lnR w="9525" cap="flat" cmpd="sng">
                      <a:solidFill>
                        <a:srgbClr val="274E13"/>
                      </a:solidFill>
                      <a:prstDash val="solid"/>
                      <a:round/>
                      <a:headEnd type="none" w="sm" len="sm"/>
                      <a:tailEnd type="none" w="sm" len="sm"/>
                    </a:lnR>
                    <a:lnT w="9525" cap="flat" cmpd="sng">
                      <a:solidFill>
                        <a:srgbClr val="274E13"/>
                      </a:solidFill>
                      <a:prstDash val="solid"/>
                      <a:round/>
                      <a:headEnd type="none" w="sm" len="sm"/>
                      <a:tailEnd type="none" w="sm" len="sm"/>
                    </a:lnT>
                    <a:lnB w="9525" cap="flat" cmpd="sng">
                      <a:solidFill>
                        <a:srgbClr val="274E13"/>
                      </a:solidFill>
                      <a:prstDash val="solid"/>
                      <a:round/>
                      <a:headEnd type="none" w="sm" len="sm"/>
                      <a:tailEnd type="none" w="sm" len="sm"/>
                    </a:lnB>
                    <a:solidFill>
                      <a:srgbClr val="93C47D"/>
                    </a:solidFill>
                  </a:tcPr>
                </a:tc>
                <a:tc>
                  <a:txBody>
                    <a:bodyPr/>
                    <a:lstStyle/>
                    <a:p>
                      <a:pPr marL="0" lvl="0" indent="0" algn="ctr" rtl="0">
                        <a:spcBef>
                          <a:spcPts val="0"/>
                        </a:spcBef>
                        <a:spcAft>
                          <a:spcPts val="0"/>
                        </a:spcAft>
                        <a:buNone/>
                      </a:pPr>
                      <a:r>
                        <a:rPr lang="en" b="1" dirty="0">
                          <a:solidFill>
                            <a:srgbClr val="38761D"/>
                          </a:solidFill>
                        </a:rPr>
                        <a:t>BIOBERT</a:t>
                      </a:r>
                      <a:endParaRPr b="1" dirty="0">
                        <a:solidFill>
                          <a:srgbClr val="38761D"/>
                        </a:solidFill>
                      </a:endParaRPr>
                    </a:p>
                  </a:txBody>
                  <a:tcPr marL="91425" marR="91425" marT="91425" marB="91425" anchor="ctr">
                    <a:lnL w="9525" cap="flat" cmpd="sng">
                      <a:solidFill>
                        <a:srgbClr val="274E13"/>
                      </a:solidFill>
                      <a:prstDash val="solid"/>
                      <a:round/>
                      <a:headEnd type="none" w="sm" len="sm"/>
                      <a:tailEnd type="none" w="sm" len="sm"/>
                    </a:lnL>
                    <a:lnR w="9525" cap="flat" cmpd="sng">
                      <a:solidFill>
                        <a:srgbClr val="274E13"/>
                      </a:solidFill>
                      <a:prstDash val="solid"/>
                      <a:round/>
                      <a:headEnd type="none" w="sm" len="sm"/>
                      <a:tailEnd type="none" w="sm" len="sm"/>
                    </a:lnR>
                    <a:lnT w="9525" cap="flat" cmpd="sng">
                      <a:solidFill>
                        <a:srgbClr val="274E13"/>
                      </a:solidFill>
                      <a:prstDash val="solid"/>
                      <a:round/>
                      <a:headEnd type="none" w="sm" len="sm"/>
                      <a:tailEnd type="none" w="sm" len="sm"/>
                    </a:lnT>
                    <a:lnB w="9525" cap="flat" cmpd="sng">
                      <a:solidFill>
                        <a:srgbClr val="274E13"/>
                      </a:solidFill>
                      <a:prstDash val="solid"/>
                      <a:round/>
                      <a:headEnd type="none" w="sm" len="sm"/>
                      <a:tailEnd type="none" w="sm" len="sm"/>
                    </a:lnB>
                    <a:solidFill>
                      <a:srgbClr val="93C47D"/>
                    </a:solidFill>
                  </a:tcPr>
                </a:tc>
                <a:extLst>
                  <a:ext uri="{0D108BD9-81ED-4DB2-BD59-A6C34878D82A}">
                    <a16:rowId xmlns:a16="http://schemas.microsoft.com/office/drawing/2014/main" val="10000"/>
                  </a:ext>
                </a:extLst>
              </a:tr>
              <a:tr h="2852725">
                <a:tc>
                  <a:txBody>
                    <a:bodyPr/>
                    <a:lstStyle/>
                    <a:p>
                      <a:pPr marL="0" lvl="0" indent="0" algn="l" rtl="0">
                        <a:spcBef>
                          <a:spcPts val="0"/>
                        </a:spcBef>
                        <a:spcAft>
                          <a:spcPts val="0"/>
                        </a:spcAft>
                        <a:buNone/>
                      </a:pPr>
                      <a:endParaRPr/>
                    </a:p>
                  </a:txBody>
                  <a:tcPr marL="91425" marR="91425" marT="91425" marB="91425">
                    <a:lnT w="9525" cap="flat" cmpd="sng">
                      <a:solidFill>
                        <a:srgbClr val="274E13"/>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91425" marR="91425" marT="91425" marB="91425">
                    <a:lnT w="9525" cap="flat" cmpd="sng">
                      <a:solidFill>
                        <a:srgbClr val="274E13"/>
                      </a:solidFill>
                      <a:prstDash val="solid"/>
                      <a:round/>
                      <a:headEnd type="none" w="sm" len="sm"/>
                      <a:tailEnd type="none" w="sm" len="sm"/>
                    </a:lnT>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628650" y="-3"/>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startAt="4"/>
            </a:pPr>
            <a:r>
              <a:rPr lang="en" sz="2900"/>
              <a:t>Overview of Approach for Medical NLP Chatbot</a:t>
            </a:r>
            <a:endParaRPr sz="2900"/>
          </a:p>
        </p:txBody>
      </p:sp>
      <p:sp>
        <p:nvSpPr>
          <p:cNvPr id="135" name="Google Shape;135;p21"/>
          <p:cNvSpPr txBox="1">
            <a:spLocks noGrp="1"/>
          </p:cNvSpPr>
          <p:nvPr>
            <p:ph type="body" idx="1"/>
          </p:nvPr>
        </p:nvSpPr>
        <p:spPr>
          <a:xfrm>
            <a:off x="628650" y="940044"/>
            <a:ext cx="7886700" cy="3263400"/>
          </a:xfrm>
          <a:prstGeom prst="rect">
            <a:avLst/>
          </a:prstGeom>
        </p:spPr>
        <p:txBody>
          <a:bodyPr spcFirstLastPara="1" wrap="square" lIns="68575" tIns="34275" rIns="68575" bIns="34275" anchor="t" anchorCtr="0">
            <a:normAutofit fontScale="92500"/>
          </a:bodyPr>
          <a:lstStyle/>
          <a:p>
            <a:pPr marL="457200" lvl="0" indent="-304800" algn="l" rtl="0">
              <a:lnSpc>
                <a:spcPct val="115000"/>
              </a:lnSpc>
              <a:spcBef>
                <a:spcPts val="0"/>
              </a:spcBef>
              <a:spcAft>
                <a:spcPts val="0"/>
              </a:spcAft>
              <a:buClr>
                <a:srgbClr val="134F5C"/>
              </a:buClr>
              <a:buSzPts val="1200"/>
              <a:buFont typeface="Calibri"/>
              <a:buAutoNum type="arabicPeriod"/>
            </a:pPr>
            <a:r>
              <a:rPr lang="en" sz="1200" b="1" i="1" dirty="0">
                <a:solidFill>
                  <a:srgbClr val="134F5C"/>
                </a:solidFill>
              </a:rPr>
              <a:t>Design of the Project</a:t>
            </a:r>
            <a:endParaRPr sz="1200" b="1" i="1" dirty="0">
              <a:solidFill>
                <a:srgbClr val="134F5C"/>
              </a:solidFill>
            </a:endParaRPr>
          </a:p>
          <a:p>
            <a:pPr marL="457200" lvl="0" indent="-304800" algn="l" rtl="0">
              <a:lnSpc>
                <a:spcPct val="115000"/>
              </a:lnSpc>
              <a:spcBef>
                <a:spcPts val="0"/>
              </a:spcBef>
              <a:spcAft>
                <a:spcPts val="0"/>
              </a:spcAft>
              <a:buClr>
                <a:srgbClr val="134F5C"/>
              </a:buClr>
              <a:buSzPts val="1200"/>
              <a:buFont typeface="Calibri"/>
              <a:buAutoNum type="arabicPeriod"/>
            </a:pPr>
            <a:r>
              <a:rPr lang="en" sz="1200" b="1" i="1" dirty="0">
                <a:solidFill>
                  <a:srgbClr val="134F5C"/>
                </a:solidFill>
              </a:rPr>
              <a:t>Utilizing BioBERT for Medical Context:</a:t>
            </a:r>
            <a:endParaRPr sz="1200" b="1" i="1" dirty="0">
              <a:solidFill>
                <a:srgbClr val="134F5C"/>
              </a:solidFill>
            </a:endParaRPr>
          </a:p>
          <a:p>
            <a:pPr marL="914400" lvl="1" indent="-304800" algn="l" rtl="0">
              <a:lnSpc>
                <a:spcPct val="115000"/>
              </a:lnSpc>
              <a:spcBef>
                <a:spcPts val="0"/>
              </a:spcBef>
              <a:spcAft>
                <a:spcPts val="0"/>
              </a:spcAft>
              <a:buClr>
                <a:schemeClr val="dk1"/>
              </a:buClr>
              <a:buSzPts val="1200"/>
              <a:buFont typeface="Calibri"/>
              <a:buChar char="●"/>
            </a:pPr>
            <a:r>
              <a:rPr lang="en" sz="1200" dirty="0"/>
              <a:t>Training the BioBERT transformer model on the BioASQ dataset, known for its rich medical content.</a:t>
            </a:r>
            <a:endParaRPr sz="1200" dirty="0"/>
          </a:p>
          <a:p>
            <a:pPr marL="914400" lvl="1" indent="-304800" algn="l" rtl="0">
              <a:lnSpc>
                <a:spcPct val="115000"/>
              </a:lnSpc>
              <a:spcBef>
                <a:spcPts val="0"/>
              </a:spcBef>
              <a:spcAft>
                <a:spcPts val="0"/>
              </a:spcAft>
              <a:buClr>
                <a:schemeClr val="dk1"/>
              </a:buClr>
              <a:buSzPts val="1200"/>
              <a:buFont typeface="Calibri"/>
              <a:buChar char="●"/>
            </a:pPr>
            <a:r>
              <a:rPr lang="en" sz="1200" dirty="0"/>
              <a:t>Emphasis on the model’s ability to understand complex medical terminologies and context.</a:t>
            </a:r>
            <a:endParaRPr sz="1200" dirty="0"/>
          </a:p>
          <a:p>
            <a:pPr marL="457200" lvl="0" indent="-304800" algn="l" rtl="0">
              <a:lnSpc>
                <a:spcPct val="115000"/>
              </a:lnSpc>
              <a:spcBef>
                <a:spcPts val="0"/>
              </a:spcBef>
              <a:spcAft>
                <a:spcPts val="0"/>
              </a:spcAft>
              <a:buClr>
                <a:schemeClr val="dk1"/>
              </a:buClr>
              <a:buSzPts val="1200"/>
              <a:buFont typeface="Calibri"/>
              <a:buAutoNum type="arabicPeriod"/>
            </a:pPr>
            <a:r>
              <a:rPr lang="en" sz="1200" b="1" i="1" dirty="0" err="1">
                <a:solidFill>
                  <a:srgbClr val="134F5C"/>
                </a:solidFill>
              </a:rPr>
              <a:t>SQuAD</a:t>
            </a:r>
            <a:r>
              <a:rPr lang="en" sz="1200" b="1" i="1" dirty="0">
                <a:solidFill>
                  <a:srgbClr val="134F5C"/>
                </a:solidFill>
              </a:rPr>
              <a:t> for Semantic Understanding:</a:t>
            </a:r>
            <a:endParaRPr sz="1200" dirty="0"/>
          </a:p>
          <a:p>
            <a:pPr marL="914400" lvl="1" indent="-304800" algn="l" rtl="0">
              <a:lnSpc>
                <a:spcPct val="115000"/>
              </a:lnSpc>
              <a:spcBef>
                <a:spcPts val="0"/>
              </a:spcBef>
              <a:spcAft>
                <a:spcPts val="0"/>
              </a:spcAft>
              <a:buClr>
                <a:schemeClr val="dk1"/>
              </a:buClr>
              <a:buSzPts val="1200"/>
              <a:buFont typeface="Calibri"/>
              <a:buChar char="●"/>
            </a:pPr>
            <a:r>
              <a:rPr lang="en" sz="1200" dirty="0"/>
              <a:t>Further training with a general-purpose BERT model on the </a:t>
            </a:r>
            <a:r>
              <a:rPr lang="en" sz="1200" dirty="0" err="1"/>
              <a:t>SQuAD</a:t>
            </a:r>
            <a:r>
              <a:rPr lang="en" sz="1200" dirty="0"/>
              <a:t> dataset.</a:t>
            </a:r>
            <a:endParaRPr sz="1200" dirty="0"/>
          </a:p>
          <a:p>
            <a:pPr marL="914400" lvl="1" indent="-304800" algn="l" rtl="0">
              <a:lnSpc>
                <a:spcPct val="115000"/>
              </a:lnSpc>
              <a:spcBef>
                <a:spcPts val="0"/>
              </a:spcBef>
              <a:spcAft>
                <a:spcPts val="0"/>
              </a:spcAft>
              <a:buClr>
                <a:schemeClr val="dk1"/>
              </a:buClr>
              <a:buSzPts val="1200"/>
              <a:buFont typeface="Calibri"/>
              <a:buChar char="●"/>
            </a:pPr>
            <a:r>
              <a:rPr lang="en" sz="1200" dirty="0"/>
              <a:t>Aimed at enhancing the chatbot's capability in understanding and interpreting semantic meanings in user queries.</a:t>
            </a:r>
            <a:endParaRPr sz="1200" dirty="0"/>
          </a:p>
          <a:p>
            <a:pPr marL="457200" lvl="0" indent="-304800" algn="l" rtl="0">
              <a:lnSpc>
                <a:spcPct val="115000"/>
              </a:lnSpc>
              <a:spcBef>
                <a:spcPts val="0"/>
              </a:spcBef>
              <a:spcAft>
                <a:spcPts val="0"/>
              </a:spcAft>
              <a:buClr>
                <a:schemeClr val="dk1"/>
              </a:buClr>
              <a:buSzPts val="1200"/>
              <a:buFont typeface="Calibri"/>
              <a:buAutoNum type="arabicPeriod"/>
            </a:pPr>
            <a:r>
              <a:rPr lang="en" sz="1200" b="1" i="1" dirty="0">
                <a:solidFill>
                  <a:srgbClr val="134F5C"/>
                </a:solidFill>
              </a:rPr>
              <a:t>Domain-Specific Data Handling:</a:t>
            </a:r>
            <a:endParaRPr sz="1200" b="1" i="1" dirty="0">
              <a:solidFill>
                <a:srgbClr val="134F5C"/>
              </a:solidFill>
            </a:endParaRPr>
          </a:p>
          <a:p>
            <a:pPr marL="914400" lvl="1" indent="-304800" algn="l" rtl="0">
              <a:lnSpc>
                <a:spcPct val="115000"/>
              </a:lnSpc>
              <a:spcBef>
                <a:spcPts val="0"/>
              </a:spcBef>
              <a:spcAft>
                <a:spcPts val="0"/>
              </a:spcAft>
              <a:buClr>
                <a:schemeClr val="dk1"/>
              </a:buClr>
              <a:buSzPts val="1200"/>
              <a:buFont typeface="Calibri"/>
              <a:buChar char="●"/>
            </a:pPr>
            <a:r>
              <a:rPr lang="en" sz="1200" dirty="0"/>
              <a:t>Converting domain-specific medical PDFs into text and chunking them for analysis.</a:t>
            </a:r>
            <a:endParaRPr sz="1200" dirty="0"/>
          </a:p>
          <a:p>
            <a:pPr marL="914400" lvl="1" indent="-304800" algn="l" rtl="0">
              <a:lnSpc>
                <a:spcPct val="115000"/>
              </a:lnSpc>
              <a:spcBef>
                <a:spcPts val="0"/>
              </a:spcBef>
              <a:spcAft>
                <a:spcPts val="0"/>
              </a:spcAft>
              <a:buClr>
                <a:schemeClr val="dk1"/>
              </a:buClr>
              <a:buSzPts val="1200"/>
              <a:buFont typeface="Calibri"/>
              <a:buChar char="●"/>
            </a:pPr>
            <a:r>
              <a:rPr lang="en" sz="1200" dirty="0"/>
              <a:t>Describing how the chatbot processes these chunks to locate relevant information in response to user queries.</a:t>
            </a:r>
            <a:endParaRPr sz="1200" dirty="0"/>
          </a:p>
          <a:p>
            <a:pPr marL="457200" lvl="0" indent="-304800" algn="l" rtl="0">
              <a:lnSpc>
                <a:spcPct val="115000"/>
              </a:lnSpc>
              <a:spcBef>
                <a:spcPts val="0"/>
              </a:spcBef>
              <a:spcAft>
                <a:spcPts val="0"/>
              </a:spcAft>
              <a:buClr>
                <a:schemeClr val="dk1"/>
              </a:buClr>
              <a:buSzPts val="1200"/>
              <a:buFont typeface="Calibri"/>
              <a:buAutoNum type="arabicPeriod"/>
            </a:pPr>
            <a:r>
              <a:rPr lang="en" sz="1200" b="1" i="1" dirty="0">
                <a:solidFill>
                  <a:srgbClr val="134F5C"/>
                </a:solidFill>
              </a:rPr>
              <a:t>Incorporating Wikipedia for Comprehensive Coverage:</a:t>
            </a:r>
            <a:endParaRPr sz="1200" dirty="0"/>
          </a:p>
          <a:p>
            <a:pPr marL="914400" lvl="1" indent="-304800" algn="l" rtl="0">
              <a:lnSpc>
                <a:spcPct val="115000"/>
              </a:lnSpc>
              <a:spcBef>
                <a:spcPts val="0"/>
              </a:spcBef>
              <a:spcAft>
                <a:spcPts val="0"/>
              </a:spcAft>
              <a:buClr>
                <a:schemeClr val="dk1"/>
              </a:buClr>
              <a:buSzPts val="1200"/>
              <a:buFont typeface="Calibri"/>
              <a:buChar char="●"/>
            </a:pPr>
            <a:r>
              <a:rPr lang="en" sz="1200" dirty="0"/>
              <a:t>Augmenting the chatbot’s knowledge base with Wikipedia data for queries beyond the BioASQ scope.</a:t>
            </a:r>
            <a:endParaRPr sz="1200" dirty="0"/>
          </a:p>
          <a:p>
            <a:pPr marL="914400" lvl="1" indent="-304800" algn="l" rtl="0">
              <a:lnSpc>
                <a:spcPct val="115000"/>
              </a:lnSpc>
              <a:spcBef>
                <a:spcPts val="0"/>
              </a:spcBef>
              <a:spcAft>
                <a:spcPts val="0"/>
              </a:spcAft>
              <a:buClr>
                <a:schemeClr val="dk1"/>
              </a:buClr>
              <a:buSzPts val="1200"/>
              <a:buFont typeface="Calibri"/>
              <a:buChar char="●"/>
            </a:pPr>
            <a:r>
              <a:rPr lang="en" sz="1200" dirty="0"/>
              <a:t>Strategy to ensure versatility and breadth in answering diverse medical questions.</a:t>
            </a:r>
            <a:endParaRPr sz="1200" dirty="0"/>
          </a:p>
          <a:p>
            <a:pPr marL="457200" lvl="0" indent="-304800" algn="l" rtl="0">
              <a:lnSpc>
                <a:spcPct val="115000"/>
              </a:lnSpc>
              <a:spcBef>
                <a:spcPts val="0"/>
              </a:spcBef>
              <a:spcAft>
                <a:spcPts val="0"/>
              </a:spcAft>
              <a:buClr>
                <a:schemeClr val="dk1"/>
              </a:buClr>
              <a:buSzPts val="1200"/>
              <a:buFont typeface="Calibri"/>
              <a:buAutoNum type="arabicPeriod"/>
            </a:pPr>
            <a:r>
              <a:rPr lang="en" sz="1200" b="1" i="1" dirty="0">
                <a:solidFill>
                  <a:srgbClr val="134F5C"/>
                </a:solidFill>
              </a:rPr>
              <a:t>Extractive vs. Generative Chatbot:</a:t>
            </a:r>
            <a:endParaRPr sz="1200" dirty="0"/>
          </a:p>
          <a:p>
            <a:pPr marL="914400" lvl="1" indent="-304800" algn="l" rtl="0">
              <a:lnSpc>
                <a:spcPct val="115000"/>
              </a:lnSpc>
              <a:spcBef>
                <a:spcPts val="0"/>
              </a:spcBef>
              <a:spcAft>
                <a:spcPts val="0"/>
              </a:spcAft>
              <a:buClr>
                <a:schemeClr val="dk1"/>
              </a:buClr>
              <a:buSzPts val="1200"/>
              <a:buFont typeface="Calibri"/>
              <a:buChar char="●"/>
            </a:pPr>
            <a:r>
              <a:rPr lang="en" sz="1200" dirty="0"/>
              <a:t>Choosing an extractive approach to ensure precise and contextually relevant answers.</a:t>
            </a:r>
            <a:endParaRPr sz="1200" dirty="0"/>
          </a:p>
          <a:p>
            <a:pPr marL="914400" lvl="1" indent="-304800" algn="l" rtl="0">
              <a:lnSpc>
                <a:spcPct val="115000"/>
              </a:lnSpc>
              <a:spcBef>
                <a:spcPts val="0"/>
              </a:spcBef>
              <a:spcAft>
                <a:spcPts val="0"/>
              </a:spcAft>
              <a:buClr>
                <a:schemeClr val="dk1"/>
              </a:buClr>
              <a:buSzPts val="1200"/>
              <a:buFont typeface="Calibri"/>
              <a:buChar char="●"/>
            </a:pPr>
            <a:r>
              <a:rPr lang="en" sz="1200" dirty="0"/>
              <a:t>Discussing the rationale behind this choice and its implications for chatbot performance.</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p:nvPr>
        </p:nvSpPr>
        <p:spPr>
          <a:xfrm>
            <a:off x="628650" y="-3"/>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startAt="5"/>
            </a:pPr>
            <a:r>
              <a:rPr lang="en" sz="2900"/>
              <a:t>Domain Specific Data Handling:</a:t>
            </a:r>
            <a:endParaRPr sz="2900"/>
          </a:p>
        </p:txBody>
      </p:sp>
      <p:sp>
        <p:nvSpPr>
          <p:cNvPr id="141" name="Google Shape;141;p22"/>
          <p:cNvSpPr txBox="1">
            <a:spLocks noGrp="1"/>
          </p:cNvSpPr>
          <p:nvPr>
            <p:ph type="body" idx="1"/>
          </p:nvPr>
        </p:nvSpPr>
        <p:spPr>
          <a:xfrm>
            <a:off x="52025" y="790400"/>
            <a:ext cx="8955300" cy="3664500"/>
          </a:xfrm>
          <a:prstGeom prst="rect">
            <a:avLst/>
          </a:prstGeom>
        </p:spPr>
        <p:txBody>
          <a:bodyPr spcFirstLastPara="1" wrap="square" lIns="68575" tIns="34275" rIns="68575" bIns="34275" anchor="t" anchorCtr="0">
            <a:normAutofit fontScale="62500" lnSpcReduction="20000"/>
          </a:bodyPr>
          <a:lstStyle/>
          <a:p>
            <a:pPr marL="457200" lvl="0" indent="-228600" algn="l" rtl="0">
              <a:lnSpc>
                <a:spcPct val="115000"/>
              </a:lnSpc>
              <a:spcBef>
                <a:spcPts val="0"/>
              </a:spcBef>
              <a:spcAft>
                <a:spcPts val="0"/>
              </a:spcAft>
              <a:buClr>
                <a:schemeClr val="dk1"/>
              </a:buClr>
              <a:buSzPct val="100000"/>
              <a:buFont typeface="Calibri"/>
              <a:buNone/>
            </a:pPr>
            <a:r>
              <a:rPr lang="en" sz="1732" dirty="0"/>
              <a:t>Processing Domain-Specific Documents:</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Discuss the approach to handling and extracting information from medical PDF files, which are rich in domain-specific knowledge.</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Emphasize the importance of specialized data handling for accuracy in medical contexts.</a:t>
            </a:r>
            <a:endParaRPr sz="1732" dirty="0"/>
          </a:p>
          <a:p>
            <a:pPr marL="457200" lvl="0" indent="-228600" algn="l" rtl="0">
              <a:lnSpc>
                <a:spcPct val="115000"/>
              </a:lnSpc>
              <a:spcBef>
                <a:spcPts val="0"/>
              </a:spcBef>
              <a:spcAft>
                <a:spcPts val="0"/>
              </a:spcAft>
              <a:buClr>
                <a:schemeClr val="dk1"/>
              </a:buClr>
              <a:buSzPct val="100000"/>
              <a:buFont typeface="Calibri"/>
              <a:buNone/>
            </a:pPr>
            <a:r>
              <a:rPr lang="en" sz="1732" dirty="0"/>
              <a:t>From PDFs to Processable Text:</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Detail the method of converting PDF content into a text format suitable for NLP processing. This includes text extraction, cleaning, and standardization.</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Mention the use of tools or libraries (e.g., PyPDF2, </a:t>
            </a:r>
            <a:r>
              <a:rPr lang="en" sz="1732" dirty="0" err="1"/>
              <a:t>PDFMiner</a:t>
            </a:r>
            <a:r>
              <a:rPr lang="en" sz="1732" dirty="0"/>
              <a:t>) for efficient text extraction from PDFs.</a:t>
            </a:r>
            <a:endParaRPr sz="1732" dirty="0"/>
          </a:p>
          <a:p>
            <a:pPr marL="457200" lvl="0" indent="-228600" algn="l" rtl="0">
              <a:lnSpc>
                <a:spcPct val="115000"/>
              </a:lnSpc>
              <a:spcBef>
                <a:spcPts val="0"/>
              </a:spcBef>
              <a:spcAft>
                <a:spcPts val="0"/>
              </a:spcAft>
              <a:buClr>
                <a:schemeClr val="dk1"/>
              </a:buClr>
              <a:buSzPct val="100000"/>
              <a:buFont typeface="Calibri"/>
              <a:buNone/>
            </a:pPr>
            <a:r>
              <a:rPr lang="en" sz="1732" dirty="0"/>
              <a:t>Chunking for Effective Analysis:</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Explain how large documents are broken down (chunked) into smaller, manageable pieces to fit the input size limitations of transformer models.</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Discuss how this chunking ensures comprehensive coverage of content without losing context.</a:t>
            </a:r>
            <a:endParaRPr sz="1732" dirty="0"/>
          </a:p>
          <a:p>
            <a:pPr marL="457200" lvl="0" indent="-228600" algn="l" rtl="0">
              <a:lnSpc>
                <a:spcPct val="115000"/>
              </a:lnSpc>
              <a:spcBef>
                <a:spcPts val="0"/>
              </a:spcBef>
              <a:spcAft>
                <a:spcPts val="0"/>
              </a:spcAft>
              <a:buClr>
                <a:schemeClr val="dk1"/>
              </a:buClr>
              <a:buSzPct val="100000"/>
              <a:buFont typeface="Calibri"/>
              <a:buNone/>
            </a:pPr>
            <a:r>
              <a:rPr lang="en" sz="1732" dirty="0"/>
              <a:t>Transformers’ Role in Understanding Complex Texts:</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Highlight how transformer models like BioBERT are adept at understanding the intricacies and nuances of medical language in these documents.</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Illustrate the capability of transformers to contextualize and interpret domain-specific terminologies.</a:t>
            </a:r>
            <a:endParaRPr sz="1732" dirty="0"/>
          </a:p>
          <a:p>
            <a:pPr marL="457200" lvl="0" indent="-228600" algn="l" rtl="0">
              <a:lnSpc>
                <a:spcPct val="115000"/>
              </a:lnSpc>
              <a:spcBef>
                <a:spcPts val="0"/>
              </a:spcBef>
              <a:spcAft>
                <a:spcPts val="0"/>
              </a:spcAft>
              <a:buClr>
                <a:schemeClr val="dk1"/>
              </a:buClr>
              <a:buSzPct val="100000"/>
              <a:buFont typeface="Calibri"/>
              <a:buNone/>
            </a:pPr>
            <a:r>
              <a:rPr lang="en" sz="1732" dirty="0"/>
              <a:t>Scaling to Multiple Documents:</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Describe the model's scalability and flexibility in processing multiple documents, allowing for expansive knowledge coverage in the medical field.</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Mention the potential for automated updates and inclusion of new research or medical findings through continuous processing of updated or new PDFs.</a:t>
            </a:r>
            <a:endParaRPr sz="1732" dirty="0"/>
          </a:p>
          <a:p>
            <a:pPr marL="0" lvl="0" indent="0" algn="l" rtl="0">
              <a:spcBef>
                <a:spcPts val="1500"/>
              </a:spcBef>
              <a:spcAft>
                <a:spcPts val="0"/>
              </a:spcAft>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628650" y="-3"/>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startAt="6"/>
            </a:pPr>
            <a:r>
              <a:rPr lang="en" sz="2900"/>
              <a:t>Utilizing SQUAD Dataset &amp; BERT Model:</a:t>
            </a:r>
            <a:endParaRPr sz="2900"/>
          </a:p>
        </p:txBody>
      </p:sp>
      <p:sp>
        <p:nvSpPr>
          <p:cNvPr id="147" name="Google Shape;147;p23"/>
          <p:cNvSpPr txBox="1">
            <a:spLocks noGrp="1"/>
          </p:cNvSpPr>
          <p:nvPr>
            <p:ph type="body" idx="1"/>
          </p:nvPr>
        </p:nvSpPr>
        <p:spPr>
          <a:xfrm>
            <a:off x="123575" y="848950"/>
            <a:ext cx="8851200" cy="3263400"/>
          </a:xfrm>
          <a:prstGeom prst="rect">
            <a:avLst/>
          </a:prstGeom>
        </p:spPr>
        <p:txBody>
          <a:bodyPr spcFirstLastPara="1" wrap="square" lIns="68575" tIns="34275" rIns="68575" bIns="34275" anchor="t" anchorCtr="0">
            <a:normAutofit fontScale="70000" lnSpcReduction="20000"/>
          </a:bodyPr>
          <a:lstStyle/>
          <a:p>
            <a:pPr marL="457200" lvl="0" indent="-228600" algn="l" rtl="0">
              <a:lnSpc>
                <a:spcPct val="115000"/>
              </a:lnSpc>
              <a:spcBef>
                <a:spcPts val="0"/>
              </a:spcBef>
              <a:spcAft>
                <a:spcPts val="0"/>
              </a:spcAft>
              <a:buClr>
                <a:schemeClr val="dk1"/>
              </a:buClr>
              <a:buSzPct val="100000"/>
              <a:buFont typeface="Calibri"/>
              <a:buNone/>
            </a:pPr>
            <a:r>
              <a:rPr lang="en" sz="1640" dirty="0"/>
              <a:t>Introduction to </a:t>
            </a:r>
            <a:r>
              <a:rPr lang="en" sz="1640" dirty="0" err="1"/>
              <a:t>SQuAD</a:t>
            </a:r>
            <a:r>
              <a:rPr lang="en" sz="1640" dirty="0"/>
              <a:t> and BERT:</a:t>
            </a:r>
            <a:endParaRPr sz="1640" dirty="0"/>
          </a:p>
          <a:p>
            <a:pPr marL="914400" lvl="1" indent="-293707" algn="l" rtl="0">
              <a:lnSpc>
                <a:spcPct val="115000"/>
              </a:lnSpc>
              <a:spcBef>
                <a:spcPts val="0"/>
              </a:spcBef>
              <a:spcAft>
                <a:spcPts val="0"/>
              </a:spcAft>
              <a:buClr>
                <a:schemeClr val="dk1"/>
              </a:buClr>
              <a:buSzPct val="100000"/>
              <a:buFont typeface="Calibri"/>
              <a:buChar char="●"/>
            </a:pPr>
            <a:r>
              <a:rPr lang="en" sz="1640" dirty="0"/>
              <a:t>Briefly introduce the Stanford Question Answering Dataset (</a:t>
            </a:r>
            <a:r>
              <a:rPr lang="en" sz="1640" dirty="0" err="1"/>
              <a:t>SQuAD</a:t>
            </a:r>
            <a:r>
              <a:rPr lang="en" sz="1640" dirty="0"/>
              <a:t>) and the BERT (Bidirectional Encoder Representations from Transformers) model.</a:t>
            </a:r>
            <a:endParaRPr sz="1640" dirty="0"/>
          </a:p>
          <a:p>
            <a:pPr marL="914400" lvl="1" indent="-293707" algn="l" rtl="0">
              <a:lnSpc>
                <a:spcPct val="115000"/>
              </a:lnSpc>
              <a:spcBef>
                <a:spcPts val="0"/>
              </a:spcBef>
              <a:spcAft>
                <a:spcPts val="0"/>
              </a:spcAft>
              <a:buClr>
                <a:schemeClr val="dk1"/>
              </a:buClr>
              <a:buSzPct val="100000"/>
              <a:buFont typeface="Calibri"/>
              <a:buChar char="●"/>
            </a:pPr>
            <a:r>
              <a:rPr lang="en" sz="1640" dirty="0"/>
              <a:t>Explain how </a:t>
            </a:r>
            <a:r>
              <a:rPr lang="en" sz="1640" dirty="0" err="1"/>
              <a:t>SQuAD</a:t>
            </a:r>
            <a:r>
              <a:rPr lang="en" sz="1640" dirty="0"/>
              <a:t>, with its extensive range of questions and answers, serves as a robust training ground for NLP models.</a:t>
            </a:r>
            <a:endParaRPr sz="1640" dirty="0"/>
          </a:p>
          <a:p>
            <a:pPr marL="457200" lvl="0" indent="-228600" algn="l" rtl="0">
              <a:lnSpc>
                <a:spcPct val="115000"/>
              </a:lnSpc>
              <a:spcBef>
                <a:spcPts val="0"/>
              </a:spcBef>
              <a:spcAft>
                <a:spcPts val="0"/>
              </a:spcAft>
              <a:buClr>
                <a:schemeClr val="dk1"/>
              </a:buClr>
              <a:buSzPct val="100000"/>
              <a:buFont typeface="Calibri"/>
              <a:buNone/>
            </a:pPr>
            <a:r>
              <a:rPr lang="en" sz="1640" dirty="0"/>
              <a:t>BERT’s Adaptability to Diverse Contexts:</a:t>
            </a:r>
            <a:endParaRPr sz="1640" dirty="0"/>
          </a:p>
          <a:p>
            <a:pPr marL="914400" lvl="1" indent="-293707" algn="l" rtl="0">
              <a:lnSpc>
                <a:spcPct val="115000"/>
              </a:lnSpc>
              <a:spcBef>
                <a:spcPts val="0"/>
              </a:spcBef>
              <a:spcAft>
                <a:spcPts val="0"/>
              </a:spcAft>
              <a:buClr>
                <a:schemeClr val="dk1"/>
              </a:buClr>
              <a:buSzPct val="100000"/>
              <a:buFont typeface="Calibri"/>
              <a:buChar char="●"/>
            </a:pPr>
            <a:r>
              <a:rPr lang="en" sz="1640" dirty="0"/>
              <a:t>Highlight BERT’s design for understanding context and nuance in language, making it suitable for a variety of domains, including medical.</a:t>
            </a:r>
            <a:endParaRPr sz="1640" dirty="0"/>
          </a:p>
          <a:p>
            <a:pPr marL="914400" lvl="1" indent="-293707" algn="l" rtl="0">
              <a:lnSpc>
                <a:spcPct val="115000"/>
              </a:lnSpc>
              <a:spcBef>
                <a:spcPts val="0"/>
              </a:spcBef>
              <a:spcAft>
                <a:spcPts val="0"/>
              </a:spcAft>
              <a:buClr>
                <a:schemeClr val="dk1"/>
              </a:buClr>
              <a:buSzPct val="100000"/>
              <a:buFont typeface="Calibri"/>
              <a:buChar char="●"/>
            </a:pPr>
            <a:r>
              <a:rPr lang="en" sz="1640" dirty="0"/>
              <a:t>Discuss how pre-training on a diverse dataset like </a:t>
            </a:r>
            <a:r>
              <a:rPr lang="en" sz="1640" dirty="0" err="1"/>
              <a:t>SQuAD</a:t>
            </a:r>
            <a:r>
              <a:rPr lang="en" sz="1640" dirty="0"/>
              <a:t> broadens the model's capability to handle different types of text.</a:t>
            </a:r>
            <a:endParaRPr sz="1640" dirty="0"/>
          </a:p>
          <a:p>
            <a:pPr marL="457200" lvl="0" indent="-228600" algn="l" rtl="0">
              <a:lnSpc>
                <a:spcPct val="115000"/>
              </a:lnSpc>
              <a:spcBef>
                <a:spcPts val="0"/>
              </a:spcBef>
              <a:spcAft>
                <a:spcPts val="0"/>
              </a:spcAft>
              <a:buClr>
                <a:schemeClr val="dk1"/>
              </a:buClr>
              <a:buSzPct val="100000"/>
              <a:buFont typeface="Calibri"/>
              <a:buNone/>
            </a:pPr>
            <a:r>
              <a:rPr lang="en" sz="1640" dirty="0"/>
              <a:t>Enhancing Medical Data Comprehension:</a:t>
            </a:r>
            <a:endParaRPr sz="1640" dirty="0"/>
          </a:p>
          <a:p>
            <a:pPr marL="914400" lvl="1" indent="-293707" algn="l" rtl="0">
              <a:lnSpc>
                <a:spcPct val="115000"/>
              </a:lnSpc>
              <a:spcBef>
                <a:spcPts val="0"/>
              </a:spcBef>
              <a:spcAft>
                <a:spcPts val="0"/>
              </a:spcAft>
              <a:buClr>
                <a:schemeClr val="dk1"/>
              </a:buClr>
              <a:buSzPct val="100000"/>
              <a:buFont typeface="Calibri"/>
              <a:buChar char="●"/>
            </a:pPr>
            <a:r>
              <a:rPr lang="en" sz="1640" dirty="0"/>
              <a:t>Elaborate on the application of BERT, trained on </a:t>
            </a:r>
            <a:r>
              <a:rPr lang="en" sz="1640" dirty="0" err="1"/>
              <a:t>SQuAD</a:t>
            </a:r>
            <a:r>
              <a:rPr lang="en" sz="1640" dirty="0"/>
              <a:t>, in processing domain-specific medical datasets.</a:t>
            </a:r>
            <a:endParaRPr sz="1640" dirty="0"/>
          </a:p>
          <a:p>
            <a:pPr marL="914400" lvl="1" indent="-293707" algn="l" rtl="0">
              <a:lnSpc>
                <a:spcPct val="115000"/>
              </a:lnSpc>
              <a:spcBef>
                <a:spcPts val="0"/>
              </a:spcBef>
              <a:spcAft>
                <a:spcPts val="0"/>
              </a:spcAft>
              <a:buClr>
                <a:schemeClr val="dk1"/>
              </a:buClr>
              <a:buSzPct val="100000"/>
              <a:buFont typeface="Calibri"/>
              <a:buChar char="●"/>
            </a:pPr>
            <a:r>
              <a:rPr lang="en" sz="1640" dirty="0"/>
              <a:t>Describe how this training equips the model with a more generalized understanding of language, aiding in better interpretation of medical texts.</a:t>
            </a:r>
            <a:endParaRPr sz="1640" dirty="0"/>
          </a:p>
          <a:p>
            <a:pPr marL="457200" lvl="0" indent="-228600" algn="l" rtl="0">
              <a:lnSpc>
                <a:spcPct val="115000"/>
              </a:lnSpc>
              <a:spcBef>
                <a:spcPts val="0"/>
              </a:spcBef>
              <a:spcAft>
                <a:spcPts val="0"/>
              </a:spcAft>
              <a:buClr>
                <a:schemeClr val="dk1"/>
              </a:buClr>
              <a:buSzPct val="100000"/>
              <a:buFont typeface="Calibri"/>
              <a:buNone/>
            </a:pPr>
            <a:r>
              <a:rPr lang="en" sz="1640" dirty="0"/>
              <a:t>Integration with Domain-Specific Models:</a:t>
            </a:r>
            <a:endParaRPr sz="1640" dirty="0"/>
          </a:p>
          <a:p>
            <a:pPr marL="914400" lvl="1" indent="-293707" algn="l" rtl="0">
              <a:lnSpc>
                <a:spcPct val="115000"/>
              </a:lnSpc>
              <a:spcBef>
                <a:spcPts val="0"/>
              </a:spcBef>
              <a:spcAft>
                <a:spcPts val="0"/>
              </a:spcAft>
              <a:buClr>
                <a:schemeClr val="dk1"/>
              </a:buClr>
              <a:buSzPct val="100000"/>
              <a:buFont typeface="Calibri"/>
              <a:buChar char="●"/>
            </a:pPr>
            <a:r>
              <a:rPr lang="en" sz="1640" dirty="0"/>
              <a:t>Discuss the strategy of combining BERT’s broad linguistic understanding with the specialized knowledge from domain-specific models like BioBERT.</a:t>
            </a:r>
            <a:endParaRPr sz="1640" dirty="0"/>
          </a:p>
          <a:p>
            <a:pPr marL="914400" lvl="1" indent="-293707" algn="l" rtl="0">
              <a:lnSpc>
                <a:spcPct val="115000"/>
              </a:lnSpc>
              <a:spcBef>
                <a:spcPts val="0"/>
              </a:spcBef>
              <a:spcAft>
                <a:spcPts val="0"/>
              </a:spcAft>
              <a:buClr>
                <a:schemeClr val="dk1"/>
              </a:buClr>
              <a:buSzPct val="100000"/>
              <a:buFont typeface="Calibri"/>
              <a:buChar char="●"/>
            </a:pPr>
            <a:r>
              <a:rPr lang="en" sz="1640" dirty="0"/>
              <a:t>Illustrate how this integration results in a more versatile and competent chatbot capable of handling complex medical inquiries.</a:t>
            </a:r>
            <a:endParaRPr sz="1640" dirty="0"/>
          </a:p>
          <a:p>
            <a:pPr marL="457200" lvl="0" indent="-228600" algn="l" rtl="0">
              <a:lnSpc>
                <a:spcPct val="115000"/>
              </a:lnSpc>
              <a:spcBef>
                <a:spcPts val="0"/>
              </a:spcBef>
              <a:spcAft>
                <a:spcPts val="0"/>
              </a:spcAft>
              <a:buClr>
                <a:schemeClr val="dk1"/>
              </a:buClr>
              <a:buSzPct val="100000"/>
              <a:buFont typeface="Calibri"/>
              <a:buNone/>
            </a:pPr>
            <a:r>
              <a:rPr lang="en" sz="1640" dirty="0"/>
              <a:t>Practical Benefits in Medical NLP:</a:t>
            </a:r>
            <a:endParaRPr sz="1640" dirty="0"/>
          </a:p>
          <a:p>
            <a:pPr marL="914400" lvl="1" indent="-293707" algn="l" rtl="0">
              <a:lnSpc>
                <a:spcPct val="115000"/>
              </a:lnSpc>
              <a:spcBef>
                <a:spcPts val="0"/>
              </a:spcBef>
              <a:spcAft>
                <a:spcPts val="0"/>
              </a:spcAft>
              <a:buClr>
                <a:schemeClr val="dk1"/>
              </a:buClr>
              <a:buSzPct val="100000"/>
              <a:buFont typeface="Calibri"/>
              <a:buChar char="●"/>
            </a:pPr>
            <a:r>
              <a:rPr lang="en" sz="1640" dirty="0"/>
              <a:t>Emphasize the practical outcomes, such as improved accuracy in answering patient queries, and the ability to interpret a wider range of medical literature and documentation.</a:t>
            </a:r>
            <a:endParaRPr sz="1640" dirty="0"/>
          </a:p>
          <a:p>
            <a:pPr marL="914400" lvl="1" indent="-293707" algn="l" rtl="0">
              <a:lnSpc>
                <a:spcPct val="115000"/>
              </a:lnSpc>
              <a:spcBef>
                <a:spcPts val="0"/>
              </a:spcBef>
              <a:spcAft>
                <a:spcPts val="0"/>
              </a:spcAft>
              <a:buClr>
                <a:schemeClr val="dk1"/>
              </a:buClr>
              <a:buSzPct val="100000"/>
              <a:buFont typeface="Calibri"/>
              <a:buChar char="●"/>
            </a:pPr>
            <a:r>
              <a:rPr lang="en" sz="1640" dirty="0"/>
              <a:t>Highlight potential use cases in healthcare, such as aiding medical research, assisting practitioners, and enhancing patient engagement.</a:t>
            </a:r>
            <a:endParaRPr sz="1640" dirty="0"/>
          </a:p>
          <a:p>
            <a:pPr marL="0" lvl="0" indent="0" algn="l" rtl="0">
              <a:spcBef>
                <a:spcPts val="1500"/>
              </a:spcBef>
              <a:spcAft>
                <a:spcPts val="0"/>
              </a:spcAft>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4"/>
          <p:cNvSpPr txBox="1">
            <a:spLocks noGrp="1"/>
          </p:cNvSpPr>
          <p:nvPr>
            <p:ph type="title"/>
          </p:nvPr>
        </p:nvSpPr>
        <p:spPr>
          <a:xfrm>
            <a:off x="596100" y="-3"/>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startAt="7"/>
            </a:pPr>
            <a:r>
              <a:rPr lang="en" sz="2900"/>
              <a:t>Incorporating Wikipedia:</a:t>
            </a:r>
            <a:endParaRPr sz="2900"/>
          </a:p>
        </p:txBody>
      </p:sp>
      <p:sp>
        <p:nvSpPr>
          <p:cNvPr id="153" name="Google Shape;153;p24"/>
          <p:cNvSpPr txBox="1">
            <a:spLocks noGrp="1"/>
          </p:cNvSpPr>
          <p:nvPr>
            <p:ph type="body" idx="1"/>
          </p:nvPr>
        </p:nvSpPr>
        <p:spPr>
          <a:xfrm>
            <a:off x="71550" y="783900"/>
            <a:ext cx="8935800" cy="3263400"/>
          </a:xfrm>
          <a:prstGeom prst="rect">
            <a:avLst/>
          </a:prstGeom>
        </p:spPr>
        <p:txBody>
          <a:bodyPr spcFirstLastPara="1" wrap="square" lIns="68575" tIns="34275" rIns="68575" bIns="34275" anchor="t" anchorCtr="0">
            <a:noAutofit/>
          </a:bodyPr>
          <a:lstStyle/>
          <a:p>
            <a:pPr marL="457200" lvl="0" indent="-228600" algn="l" rtl="0">
              <a:lnSpc>
                <a:spcPct val="105000"/>
              </a:lnSpc>
              <a:spcBef>
                <a:spcPts val="0"/>
              </a:spcBef>
              <a:spcAft>
                <a:spcPts val="0"/>
              </a:spcAft>
              <a:buClr>
                <a:schemeClr val="dk1"/>
              </a:buClr>
              <a:buSzPts val="1120"/>
              <a:buFont typeface="Calibri"/>
              <a:buNone/>
            </a:pPr>
            <a:r>
              <a:rPr lang="en" sz="1120"/>
              <a:t>Fallback to Wikipedia for Unmatched Queries:</a:t>
            </a:r>
            <a:endParaRPr sz="1120"/>
          </a:p>
          <a:p>
            <a:pPr marL="914400" lvl="1" indent="-299719" algn="l" rtl="0">
              <a:lnSpc>
                <a:spcPct val="105000"/>
              </a:lnSpc>
              <a:spcBef>
                <a:spcPts val="0"/>
              </a:spcBef>
              <a:spcAft>
                <a:spcPts val="0"/>
              </a:spcAft>
              <a:buClr>
                <a:schemeClr val="dk1"/>
              </a:buClr>
              <a:buSzPts val="1120"/>
              <a:buFont typeface="Calibri"/>
              <a:buChar char="●"/>
            </a:pPr>
            <a:r>
              <a:rPr lang="en" sz="1120"/>
              <a:t>Explain the strategy of using Wikipedia as a secondary information source when the chatbot model does not find relevant context in its primary dataset.</a:t>
            </a:r>
            <a:endParaRPr sz="1120"/>
          </a:p>
          <a:p>
            <a:pPr marL="914400" lvl="1" indent="-299719" algn="l" rtl="0">
              <a:lnSpc>
                <a:spcPct val="105000"/>
              </a:lnSpc>
              <a:spcBef>
                <a:spcPts val="0"/>
              </a:spcBef>
              <a:spcAft>
                <a:spcPts val="0"/>
              </a:spcAft>
              <a:buClr>
                <a:schemeClr val="dk1"/>
              </a:buClr>
              <a:buSzPts val="1120"/>
              <a:buFont typeface="Calibri"/>
              <a:buChar char="●"/>
            </a:pPr>
            <a:r>
              <a:rPr lang="en" sz="1120"/>
              <a:t>Highlight Wikipedia's comprehensive coverage and its utility in providing general information on a wide range of topics.</a:t>
            </a:r>
            <a:endParaRPr sz="1120"/>
          </a:p>
          <a:p>
            <a:pPr marL="457200" lvl="0" indent="-228600" algn="l" rtl="0">
              <a:lnSpc>
                <a:spcPct val="105000"/>
              </a:lnSpc>
              <a:spcBef>
                <a:spcPts val="0"/>
              </a:spcBef>
              <a:spcAft>
                <a:spcPts val="0"/>
              </a:spcAft>
              <a:buClr>
                <a:schemeClr val="dk1"/>
              </a:buClr>
              <a:buSzPts val="1120"/>
              <a:buFont typeface="Calibri"/>
              <a:buNone/>
            </a:pPr>
            <a:r>
              <a:rPr lang="en" sz="1120"/>
              <a:t>Benefits of Wikipedia Integration:</a:t>
            </a:r>
            <a:endParaRPr sz="1120"/>
          </a:p>
          <a:p>
            <a:pPr marL="914400" lvl="1" indent="-299719" algn="l" rtl="0">
              <a:lnSpc>
                <a:spcPct val="105000"/>
              </a:lnSpc>
              <a:spcBef>
                <a:spcPts val="0"/>
              </a:spcBef>
              <a:spcAft>
                <a:spcPts val="0"/>
              </a:spcAft>
              <a:buClr>
                <a:schemeClr val="dk1"/>
              </a:buClr>
              <a:buSzPts val="1120"/>
              <a:buFont typeface="Calibri"/>
              <a:buChar char="●"/>
            </a:pPr>
            <a:r>
              <a:rPr lang="en" sz="1120"/>
              <a:t>Discuss how Wikipedia serves as an expansive knowledge base, enhancing the chatbot's ability to respond to diverse and unexpected queries.</a:t>
            </a:r>
            <a:endParaRPr sz="1120"/>
          </a:p>
          <a:p>
            <a:pPr marL="914400" lvl="1" indent="-299719" algn="l" rtl="0">
              <a:lnSpc>
                <a:spcPct val="105000"/>
              </a:lnSpc>
              <a:spcBef>
                <a:spcPts val="0"/>
              </a:spcBef>
              <a:spcAft>
                <a:spcPts val="0"/>
              </a:spcAft>
              <a:buClr>
                <a:schemeClr val="dk1"/>
              </a:buClr>
              <a:buSzPts val="1120"/>
              <a:buFont typeface="Calibri"/>
              <a:buChar char="●"/>
            </a:pPr>
            <a:r>
              <a:rPr lang="en" sz="1120"/>
              <a:t>Elaborate on Wikipedia's regularly updated content, ensuring that the chatbot can provide current and accurate information.</a:t>
            </a:r>
            <a:endParaRPr sz="1120"/>
          </a:p>
          <a:p>
            <a:pPr marL="457200" lvl="0" indent="-228600" algn="l" rtl="0">
              <a:lnSpc>
                <a:spcPct val="105000"/>
              </a:lnSpc>
              <a:spcBef>
                <a:spcPts val="0"/>
              </a:spcBef>
              <a:spcAft>
                <a:spcPts val="0"/>
              </a:spcAft>
              <a:buClr>
                <a:schemeClr val="dk1"/>
              </a:buClr>
              <a:buSzPts val="1120"/>
              <a:buFont typeface="Calibri"/>
              <a:buNone/>
            </a:pPr>
            <a:r>
              <a:rPr lang="en" sz="1120"/>
              <a:t>Alternative Reliable Sources:</a:t>
            </a:r>
            <a:endParaRPr sz="1120"/>
          </a:p>
          <a:p>
            <a:pPr marL="914400" lvl="1" indent="-299719" algn="l" rtl="0">
              <a:lnSpc>
                <a:spcPct val="105000"/>
              </a:lnSpc>
              <a:spcBef>
                <a:spcPts val="0"/>
              </a:spcBef>
              <a:spcAft>
                <a:spcPts val="0"/>
              </a:spcAft>
              <a:buClr>
                <a:schemeClr val="dk1"/>
              </a:buClr>
              <a:buSzPts val="1120"/>
              <a:buFont typeface="Calibri"/>
              <a:buChar char="●"/>
            </a:pPr>
            <a:r>
              <a:rPr lang="en" sz="1120"/>
              <a:t>Outline the potential of integrating other authoritative sources like WebMD, Mayo Clinic, or specialized medical databases for more domain-specific information.</a:t>
            </a:r>
            <a:endParaRPr sz="1120"/>
          </a:p>
          <a:p>
            <a:pPr marL="914400" lvl="1" indent="-299719" algn="l" rtl="0">
              <a:lnSpc>
                <a:spcPct val="105000"/>
              </a:lnSpc>
              <a:spcBef>
                <a:spcPts val="0"/>
              </a:spcBef>
              <a:spcAft>
                <a:spcPts val="0"/>
              </a:spcAft>
              <a:buClr>
                <a:schemeClr val="dk1"/>
              </a:buClr>
              <a:buSzPts val="1120"/>
              <a:buFont typeface="Calibri"/>
              <a:buChar char="●"/>
            </a:pPr>
            <a:r>
              <a:rPr lang="en" sz="1120"/>
              <a:t>Emphasize the importance of source credibility, especially in sensitive fields like healthcare.</a:t>
            </a:r>
            <a:endParaRPr sz="1120"/>
          </a:p>
          <a:p>
            <a:pPr marL="457200" lvl="0" indent="-228600" algn="l" rtl="0">
              <a:lnSpc>
                <a:spcPct val="105000"/>
              </a:lnSpc>
              <a:spcBef>
                <a:spcPts val="0"/>
              </a:spcBef>
              <a:spcAft>
                <a:spcPts val="0"/>
              </a:spcAft>
              <a:buClr>
                <a:schemeClr val="dk1"/>
              </a:buClr>
              <a:buSzPts val="1120"/>
              <a:buFont typeface="Calibri"/>
              <a:buNone/>
            </a:pPr>
            <a:r>
              <a:rPr lang="en" sz="1120"/>
              <a:t>Dynamic Information Retrieval:</a:t>
            </a:r>
            <a:endParaRPr sz="1120"/>
          </a:p>
          <a:p>
            <a:pPr marL="914400" lvl="1" indent="-299719" algn="l" rtl="0">
              <a:lnSpc>
                <a:spcPct val="105000"/>
              </a:lnSpc>
              <a:spcBef>
                <a:spcPts val="0"/>
              </a:spcBef>
              <a:spcAft>
                <a:spcPts val="0"/>
              </a:spcAft>
              <a:buClr>
                <a:schemeClr val="dk1"/>
              </a:buClr>
              <a:buSzPts val="1120"/>
              <a:buFont typeface="Calibri"/>
              <a:buChar char="●"/>
            </a:pPr>
            <a:r>
              <a:rPr lang="en" sz="1120"/>
              <a:t>Describe the process of dynamically querying these external sources in real-time to fetch relevant information.</a:t>
            </a:r>
            <a:endParaRPr sz="1120"/>
          </a:p>
          <a:p>
            <a:pPr marL="914400" lvl="1" indent="-299719" algn="l" rtl="0">
              <a:lnSpc>
                <a:spcPct val="105000"/>
              </a:lnSpc>
              <a:spcBef>
                <a:spcPts val="0"/>
              </a:spcBef>
              <a:spcAft>
                <a:spcPts val="0"/>
              </a:spcAft>
              <a:buClr>
                <a:schemeClr val="dk1"/>
              </a:buClr>
              <a:buSzPts val="1120"/>
              <a:buFont typeface="Calibri"/>
              <a:buChar char="●"/>
            </a:pPr>
            <a:r>
              <a:rPr lang="en" sz="1120"/>
              <a:t>Discuss the implementation of API requests or web scraping techniques, adhering to ethical and legal guidelines.</a:t>
            </a:r>
            <a:endParaRPr sz="1120"/>
          </a:p>
          <a:p>
            <a:pPr marL="457200" lvl="0" indent="-228600" algn="l" rtl="0">
              <a:lnSpc>
                <a:spcPct val="105000"/>
              </a:lnSpc>
              <a:spcBef>
                <a:spcPts val="0"/>
              </a:spcBef>
              <a:spcAft>
                <a:spcPts val="0"/>
              </a:spcAft>
              <a:buClr>
                <a:schemeClr val="dk1"/>
              </a:buClr>
              <a:buSzPts val="1120"/>
              <a:buFont typeface="Calibri"/>
              <a:buNone/>
            </a:pPr>
            <a:r>
              <a:rPr lang="en" sz="1120"/>
              <a:t>Expanding the Chatbot’s Capabilities:</a:t>
            </a:r>
            <a:endParaRPr sz="1120"/>
          </a:p>
          <a:p>
            <a:pPr marL="914400" lvl="1" indent="-299719" algn="l" rtl="0">
              <a:lnSpc>
                <a:spcPct val="105000"/>
              </a:lnSpc>
              <a:spcBef>
                <a:spcPts val="0"/>
              </a:spcBef>
              <a:spcAft>
                <a:spcPts val="0"/>
              </a:spcAft>
              <a:buClr>
                <a:schemeClr val="dk1"/>
              </a:buClr>
              <a:buSzPts val="1120"/>
              <a:buFont typeface="Calibri"/>
              <a:buChar char="●"/>
            </a:pPr>
            <a:r>
              <a:rPr lang="en" sz="1120"/>
              <a:t>Explain how supplementing the chatbot with external sources can significantly enhance its versatility and reliability.</a:t>
            </a:r>
            <a:endParaRPr sz="1120"/>
          </a:p>
          <a:p>
            <a:pPr marL="914400" lvl="1" indent="-299719" algn="l" rtl="0">
              <a:lnSpc>
                <a:spcPct val="105000"/>
              </a:lnSpc>
              <a:spcBef>
                <a:spcPts val="0"/>
              </a:spcBef>
              <a:spcAft>
                <a:spcPts val="0"/>
              </a:spcAft>
              <a:buClr>
                <a:schemeClr val="dk1"/>
              </a:buClr>
              <a:buSzPts val="1120"/>
              <a:buFont typeface="Calibri"/>
              <a:buChar char="●"/>
            </a:pPr>
            <a:r>
              <a:rPr lang="en" sz="1120"/>
              <a:t>Highlight the potential for customizable source selection based on the specific needs and focus areas of the chatbot’s application.</a:t>
            </a:r>
            <a:endParaRPr sz="1120"/>
          </a:p>
          <a:p>
            <a:pPr marL="0" lvl="0" indent="0" algn="l" rtl="0">
              <a:lnSpc>
                <a:spcPct val="80000"/>
              </a:lnSpc>
              <a:spcBef>
                <a:spcPts val="1500"/>
              </a:spcBef>
              <a:spcAft>
                <a:spcPts val="0"/>
              </a:spcAft>
              <a:buSzPts val="935"/>
              <a:buNone/>
            </a:pPr>
            <a:endParaRPr sz="188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5"/>
          <p:cNvSpPr txBox="1">
            <a:spLocks noGrp="1"/>
          </p:cNvSpPr>
          <p:nvPr>
            <p:ph type="title"/>
          </p:nvPr>
        </p:nvSpPr>
        <p:spPr>
          <a:xfrm>
            <a:off x="667650" y="-3"/>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startAt="8"/>
            </a:pPr>
            <a:r>
              <a:rPr lang="en" sz="2900"/>
              <a:t>Extractive vs. Generative Chatbots</a:t>
            </a:r>
            <a:endParaRPr sz="2900"/>
          </a:p>
        </p:txBody>
      </p:sp>
      <p:sp>
        <p:nvSpPr>
          <p:cNvPr id="159" name="Google Shape;159;p25"/>
          <p:cNvSpPr txBox="1">
            <a:spLocks noGrp="1"/>
          </p:cNvSpPr>
          <p:nvPr>
            <p:ph type="body" idx="1"/>
          </p:nvPr>
        </p:nvSpPr>
        <p:spPr>
          <a:xfrm>
            <a:off x="156075" y="868475"/>
            <a:ext cx="8883900" cy="3263400"/>
          </a:xfrm>
          <a:prstGeom prst="rect">
            <a:avLst/>
          </a:prstGeom>
        </p:spPr>
        <p:txBody>
          <a:bodyPr spcFirstLastPara="1" wrap="square" lIns="68575" tIns="34275" rIns="68575" bIns="34275" anchor="t" anchorCtr="0">
            <a:normAutofit fontScale="92500" lnSpcReduction="10000"/>
          </a:bodyPr>
          <a:lstStyle/>
          <a:p>
            <a:pPr marL="457200" lvl="0" indent="-228600" algn="l" rtl="0">
              <a:lnSpc>
                <a:spcPct val="115000"/>
              </a:lnSpc>
              <a:spcBef>
                <a:spcPts val="0"/>
              </a:spcBef>
              <a:spcAft>
                <a:spcPts val="0"/>
              </a:spcAft>
              <a:buClr>
                <a:schemeClr val="dk1"/>
              </a:buClr>
              <a:buSzPct val="100000"/>
              <a:buFont typeface="Calibri"/>
              <a:buNone/>
            </a:pPr>
            <a:r>
              <a:rPr lang="en" sz="1200"/>
              <a:t>Extractive Chatbots:</a:t>
            </a:r>
            <a:endParaRPr sz="1200"/>
          </a:p>
          <a:p>
            <a:pPr marL="914400" lvl="1" indent="-299085" algn="l" rtl="0">
              <a:lnSpc>
                <a:spcPct val="115000"/>
              </a:lnSpc>
              <a:spcBef>
                <a:spcPts val="0"/>
              </a:spcBef>
              <a:spcAft>
                <a:spcPts val="0"/>
              </a:spcAft>
              <a:buClr>
                <a:schemeClr val="dk1"/>
              </a:buClr>
              <a:buSzPct val="100000"/>
              <a:buFont typeface="Calibri"/>
              <a:buChar char="●"/>
            </a:pPr>
            <a:r>
              <a:rPr lang="en" sz="1200"/>
              <a:t>Define Extractive Chatbots: They respond by extracting information directly from a given text or dataset.</a:t>
            </a:r>
            <a:endParaRPr sz="1200"/>
          </a:p>
          <a:p>
            <a:pPr marL="914400" lvl="1" indent="-299085" algn="l" rtl="0">
              <a:lnSpc>
                <a:spcPct val="115000"/>
              </a:lnSpc>
              <a:spcBef>
                <a:spcPts val="0"/>
              </a:spcBef>
              <a:spcAft>
                <a:spcPts val="0"/>
              </a:spcAft>
              <a:buClr>
                <a:schemeClr val="dk1"/>
              </a:buClr>
              <a:buSzPct val="100000"/>
              <a:buFont typeface="Calibri"/>
              <a:buChar char="●"/>
            </a:pPr>
            <a:r>
              <a:rPr lang="en" sz="1200"/>
              <a:t>Mention your use of BERT for building an extractive chatbot, highlighting its ability to understand context and retrieve specific answers.</a:t>
            </a:r>
            <a:endParaRPr sz="1200"/>
          </a:p>
          <a:p>
            <a:pPr marL="457200" lvl="0" indent="-228600" algn="l" rtl="0">
              <a:lnSpc>
                <a:spcPct val="115000"/>
              </a:lnSpc>
              <a:spcBef>
                <a:spcPts val="0"/>
              </a:spcBef>
              <a:spcAft>
                <a:spcPts val="0"/>
              </a:spcAft>
              <a:buClr>
                <a:schemeClr val="dk1"/>
              </a:buClr>
              <a:buSzPct val="100000"/>
              <a:buFont typeface="Calibri"/>
              <a:buNone/>
            </a:pPr>
            <a:r>
              <a:rPr lang="en" sz="1200"/>
              <a:t>Generative Chatbots:</a:t>
            </a:r>
            <a:endParaRPr sz="1200"/>
          </a:p>
          <a:p>
            <a:pPr marL="914400" lvl="1" indent="-299085" algn="l" rtl="0">
              <a:lnSpc>
                <a:spcPct val="115000"/>
              </a:lnSpc>
              <a:spcBef>
                <a:spcPts val="0"/>
              </a:spcBef>
              <a:spcAft>
                <a:spcPts val="0"/>
              </a:spcAft>
              <a:buClr>
                <a:schemeClr val="dk1"/>
              </a:buClr>
              <a:buSzPct val="100000"/>
              <a:buFont typeface="Calibri"/>
              <a:buChar char="●"/>
            </a:pPr>
            <a:r>
              <a:rPr lang="en" sz="1200"/>
              <a:t>Define Generative Chatbots: They generate new responses from scratch, often using advanced language models.</a:t>
            </a:r>
            <a:endParaRPr sz="1200"/>
          </a:p>
          <a:p>
            <a:pPr marL="914400" lvl="1" indent="-299085" algn="l" rtl="0">
              <a:lnSpc>
                <a:spcPct val="115000"/>
              </a:lnSpc>
              <a:spcBef>
                <a:spcPts val="0"/>
              </a:spcBef>
              <a:spcAft>
                <a:spcPts val="0"/>
              </a:spcAft>
              <a:buClr>
                <a:schemeClr val="dk1"/>
              </a:buClr>
              <a:buSzPct val="100000"/>
              <a:buFont typeface="Calibri"/>
              <a:buChar char="●"/>
            </a:pPr>
            <a:r>
              <a:rPr lang="en" sz="1200"/>
              <a:t>Best Options for Generative Models:</a:t>
            </a:r>
            <a:endParaRPr sz="1200"/>
          </a:p>
          <a:p>
            <a:pPr marL="1371600" lvl="2" indent="-299085" algn="l" rtl="0">
              <a:lnSpc>
                <a:spcPct val="115000"/>
              </a:lnSpc>
              <a:spcBef>
                <a:spcPts val="0"/>
              </a:spcBef>
              <a:spcAft>
                <a:spcPts val="0"/>
              </a:spcAft>
              <a:buClr>
                <a:schemeClr val="dk1"/>
              </a:buClr>
              <a:buSzPct val="100000"/>
              <a:buFont typeface="Calibri"/>
              <a:buChar char="●"/>
            </a:pPr>
            <a:r>
              <a:rPr lang="en" sz="1200"/>
              <a:t>GPT-3 (OpenAI): Known for its deep learning capabilities to generate human-like text.</a:t>
            </a:r>
            <a:endParaRPr sz="1200"/>
          </a:p>
          <a:p>
            <a:pPr marL="1371600" lvl="2" indent="-299085" algn="l" rtl="0">
              <a:lnSpc>
                <a:spcPct val="115000"/>
              </a:lnSpc>
              <a:spcBef>
                <a:spcPts val="0"/>
              </a:spcBef>
              <a:spcAft>
                <a:spcPts val="0"/>
              </a:spcAft>
              <a:buClr>
                <a:schemeClr val="dk1"/>
              </a:buClr>
              <a:buSzPct val="100000"/>
              <a:buFont typeface="Calibri"/>
              <a:buChar char="●"/>
            </a:pPr>
            <a:r>
              <a:rPr lang="en" sz="1200"/>
              <a:t>T5 (Text-To-Text Transfer Transformer): Excels in translating text-based questions into appropriate responses.</a:t>
            </a:r>
            <a:endParaRPr sz="1200"/>
          </a:p>
          <a:p>
            <a:pPr marL="457200" lvl="0" indent="-228600" algn="l" rtl="0">
              <a:lnSpc>
                <a:spcPct val="115000"/>
              </a:lnSpc>
              <a:spcBef>
                <a:spcPts val="0"/>
              </a:spcBef>
              <a:spcAft>
                <a:spcPts val="0"/>
              </a:spcAft>
              <a:buClr>
                <a:schemeClr val="dk1"/>
              </a:buClr>
              <a:buSzPct val="100000"/>
              <a:buFont typeface="Calibri"/>
              <a:buNone/>
            </a:pPr>
            <a:r>
              <a:rPr lang="en" sz="1200"/>
              <a:t>Comparative Analysis:</a:t>
            </a:r>
            <a:endParaRPr sz="1200"/>
          </a:p>
          <a:p>
            <a:pPr marL="914400" lvl="1" indent="-299085" algn="l" rtl="0">
              <a:lnSpc>
                <a:spcPct val="115000"/>
              </a:lnSpc>
              <a:spcBef>
                <a:spcPts val="0"/>
              </a:spcBef>
              <a:spcAft>
                <a:spcPts val="0"/>
              </a:spcAft>
              <a:buClr>
                <a:schemeClr val="dk1"/>
              </a:buClr>
              <a:buSzPct val="100000"/>
              <a:buFont typeface="Calibri"/>
              <a:buChar char="●"/>
            </a:pPr>
            <a:r>
              <a:rPr lang="en" sz="1200"/>
              <a:t>Extractive Chatbots are precise and fact-oriented, ideal for queries needing specific information.</a:t>
            </a:r>
            <a:endParaRPr sz="1200"/>
          </a:p>
          <a:p>
            <a:pPr marL="914400" lvl="1" indent="-299085" algn="l" rtl="0">
              <a:lnSpc>
                <a:spcPct val="115000"/>
              </a:lnSpc>
              <a:spcBef>
                <a:spcPts val="0"/>
              </a:spcBef>
              <a:spcAft>
                <a:spcPts val="0"/>
              </a:spcAft>
              <a:buClr>
                <a:schemeClr val="dk1"/>
              </a:buClr>
              <a:buSzPct val="100000"/>
              <a:buFont typeface="Calibri"/>
              <a:buChar char="●"/>
            </a:pPr>
            <a:r>
              <a:rPr lang="en" sz="1200"/>
              <a:t>Generative Chatbots offer more flexible and conversational responses, making them suitable for diverse interactive experiences.</a:t>
            </a:r>
            <a:endParaRPr sz="1200"/>
          </a:p>
          <a:p>
            <a:pPr marL="457200" lvl="0" indent="-228600" algn="l" rtl="0">
              <a:lnSpc>
                <a:spcPct val="115000"/>
              </a:lnSpc>
              <a:spcBef>
                <a:spcPts val="0"/>
              </a:spcBef>
              <a:spcAft>
                <a:spcPts val="0"/>
              </a:spcAft>
              <a:buClr>
                <a:schemeClr val="dk1"/>
              </a:buClr>
              <a:buSzPct val="100000"/>
              <a:buFont typeface="Calibri"/>
              <a:buNone/>
            </a:pPr>
            <a:r>
              <a:rPr lang="en" sz="1200"/>
              <a:t>Other Robust Chatbot Building Methods:</a:t>
            </a:r>
            <a:endParaRPr sz="1200"/>
          </a:p>
          <a:p>
            <a:pPr marL="914400" lvl="1" indent="-299085" algn="l" rtl="0">
              <a:lnSpc>
                <a:spcPct val="115000"/>
              </a:lnSpc>
              <a:spcBef>
                <a:spcPts val="0"/>
              </a:spcBef>
              <a:spcAft>
                <a:spcPts val="0"/>
              </a:spcAft>
              <a:buClr>
                <a:schemeClr val="dk1"/>
              </a:buClr>
              <a:buSzPct val="100000"/>
              <a:buFont typeface="Calibri"/>
              <a:buChar char="●"/>
            </a:pPr>
            <a:r>
              <a:rPr lang="en" sz="1200"/>
              <a:t>Incorporating Reinforcement Learning for dynamic response optimization.</a:t>
            </a:r>
            <a:endParaRPr sz="1200"/>
          </a:p>
          <a:p>
            <a:pPr marL="914400" lvl="1" indent="-299085" algn="l" rtl="0">
              <a:lnSpc>
                <a:spcPct val="115000"/>
              </a:lnSpc>
              <a:spcBef>
                <a:spcPts val="0"/>
              </a:spcBef>
              <a:spcAft>
                <a:spcPts val="0"/>
              </a:spcAft>
              <a:buClr>
                <a:schemeClr val="dk1"/>
              </a:buClr>
              <a:buSzPct val="100000"/>
              <a:buFont typeface="Calibri"/>
              <a:buChar char="●"/>
            </a:pPr>
            <a:r>
              <a:rPr lang="en" sz="1200"/>
              <a:t>Using Hybrid Models that combine extractive precision with generative creativity.</a:t>
            </a:r>
            <a:endParaRPr sz="1200"/>
          </a:p>
          <a:p>
            <a:pPr marL="914400" lvl="1" indent="-299085" algn="l" rtl="0">
              <a:lnSpc>
                <a:spcPct val="115000"/>
              </a:lnSpc>
              <a:spcBef>
                <a:spcPts val="0"/>
              </a:spcBef>
              <a:spcAft>
                <a:spcPts val="0"/>
              </a:spcAft>
              <a:buClr>
                <a:schemeClr val="dk1"/>
              </a:buClr>
              <a:buSzPct val="100000"/>
              <a:buFont typeface="Calibri"/>
              <a:buChar char="●"/>
            </a:pPr>
            <a:r>
              <a:rPr lang="en" sz="1200"/>
              <a:t>Implementing Multi-Modal AI for understanding and responding to non-text inputs (images, voice).</a:t>
            </a:r>
            <a:endParaRPr sz="1200"/>
          </a:p>
          <a:p>
            <a:pPr marL="457200" lvl="0" indent="-228600" algn="l" rtl="0">
              <a:lnSpc>
                <a:spcPct val="115000"/>
              </a:lnSpc>
              <a:spcBef>
                <a:spcPts val="0"/>
              </a:spcBef>
              <a:spcAft>
                <a:spcPts val="0"/>
              </a:spcAft>
              <a:buClr>
                <a:schemeClr val="dk1"/>
              </a:buClr>
              <a:buSzPct val="100000"/>
              <a:buFont typeface="Calibri"/>
              <a:buNone/>
            </a:pPr>
            <a:r>
              <a:rPr lang="en" sz="1200"/>
              <a:t>Evolving Chatbot Technologies:</a:t>
            </a:r>
            <a:endParaRPr sz="1200"/>
          </a:p>
          <a:p>
            <a:pPr marL="914400" lvl="1" indent="-299085" algn="l" rtl="0">
              <a:lnSpc>
                <a:spcPct val="115000"/>
              </a:lnSpc>
              <a:spcBef>
                <a:spcPts val="0"/>
              </a:spcBef>
              <a:spcAft>
                <a:spcPts val="0"/>
              </a:spcAft>
              <a:buClr>
                <a:schemeClr val="dk1"/>
              </a:buClr>
              <a:buSzPct val="100000"/>
              <a:buFont typeface="Calibri"/>
              <a:buChar char="●"/>
            </a:pPr>
            <a:r>
              <a:rPr lang="en" sz="1200"/>
              <a:t>Future trends and advancements in AI that could revolutionize chatbot capabilities and applications.</a:t>
            </a:r>
            <a:endParaRPr sz="1200"/>
          </a:p>
          <a:p>
            <a:pPr marL="0" lvl="0" indent="0" algn="l" rtl="0">
              <a:spcBef>
                <a:spcPts val="15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6"/>
          <p:cNvSpPr txBox="1">
            <a:spLocks noGrp="1"/>
          </p:cNvSpPr>
          <p:nvPr>
            <p:ph type="title"/>
          </p:nvPr>
        </p:nvSpPr>
        <p:spPr>
          <a:xfrm>
            <a:off x="628650" y="-3"/>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startAt="9"/>
            </a:pPr>
            <a:r>
              <a:rPr lang="en" sz="2900"/>
              <a:t>Cost Effectiveness of BERT model</a:t>
            </a:r>
            <a:endParaRPr sz="2900"/>
          </a:p>
        </p:txBody>
      </p:sp>
      <p:sp>
        <p:nvSpPr>
          <p:cNvPr id="165" name="Google Shape;165;p26"/>
          <p:cNvSpPr txBox="1">
            <a:spLocks noGrp="1"/>
          </p:cNvSpPr>
          <p:nvPr>
            <p:ph type="body" idx="1"/>
          </p:nvPr>
        </p:nvSpPr>
        <p:spPr>
          <a:xfrm>
            <a:off x="110550" y="757900"/>
            <a:ext cx="8890500" cy="3263400"/>
          </a:xfrm>
          <a:prstGeom prst="rect">
            <a:avLst/>
          </a:prstGeom>
        </p:spPr>
        <p:txBody>
          <a:bodyPr spcFirstLastPara="1" wrap="square" lIns="68575" tIns="34275" rIns="68575" bIns="34275" anchor="t" anchorCtr="0">
            <a:normAutofit fontScale="62500" lnSpcReduction="20000"/>
          </a:bodyPr>
          <a:lstStyle/>
          <a:p>
            <a:pPr marL="457200" lvl="0" indent="-228600" algn="l" rtl="0">
              <a:lnSpc>
                <a:spcPct val="115000"/>
              </a:lnSpc>
              <a:spcBef>
                <a:spcPts val="0"/>
              </a:spcBef>
              <a:spcAft>
                <a:spcPts val="0"/>
              </a:spcAft>
              <a:buClr>
                <a:schemeClr val="dk1"/>
              </a:buClr>
              <a:buSzPct val="100000"/>
              <a:buFont typeface="Calibri"/>
              <a:buNone/>
            </a:pPr>
            <a:r>
              <a:rPr lang="en" sz="1732" dirty="0"/>
              <a:t>BERT's Efficiency in Language Understanding:</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BERT (Bidirectional Encoder Representations from Transformers) offers state-of-the-art performance in language understanding.</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Its pre-training on a large corpus allows for effective transfer learning, reducing the need for extensive training from scratch.</a:t>
            </a:r>
            <a:endParaRPr sz="1732" dirty="0"/>
          </a:p>
          <a:p>
            <a:pPr marL="457200" lvl="0" indent="-228600" algn="l" rtl="0">
              <a:lnSpc>
                <a:spcPct val="115000"/>
              </a:lnSpc>
              <a:spcBef>
                <a:spcPts val="0"/>
              </a:spcBef>
              <a:spcAft>
                <a:spcPts val="0"/>
              </a:spcAft>
              <a:buClr>
                <a:schemeClr val="dk1"/>
              </a:buClr>
              <a:buSzPct val="100000"/>
              <a:buFont typeface="Calibri"/>
              <a:buNone/>
            </a:pPr>
            <a:r>
              <a:rPr lang="en" sz="1732" dirty="0"/>
              <a:t>Reduced Training Costs:</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By using pre-trained BERT models, significant training costs (time, computational resources) can be saved.</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Fine-tuning BERT on specific tasks requires comparatively less data and computational power than training a model from zero.</a:t>
            </a:r>
            <a:endParaRPr sz="1732" dirty="0"/>
          </a:p>
          <a:p>
            <a:pPr marL="457200" lvl="0" indent="-228600" algn="l" rtl="0">
              <a:lnSpc>
                <a:spcPct val="115000"/>
              </a:lnSpc>
              <a:spcBef>
                <a:spcPts val="0"/>
              </a:spcBef>
              <a:spcAft>
                <a:spcPts val="0"/>
              </a:spcAft>
              <a:buClr>
                <a:schemeClr val="dk1"/>
              </a:buClr>
              <a:buSzPct val="100000"/>
              <a:buFont typeface="Calibri"/>
              <a:buNone/>
            </a:pPr>
            <a:r>
              <a:rPr lang="en" sz="1732" dirty="0"/>
              <a:t>Versatility Across Multiple Tasks:</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BERT's ability to perform a wide range of NLP tasks (e.g., sentiment analysis, question-answering, named entity recognition) with a single model architecture enhances its cost-effectiveness.</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This versatility eliminates the need for multiple, task-specific models.</a:t>
            </a:r>
            <a:endParaRPr sz="1732" dirty="0"/>
          </a:p>
          <a:p>
            <a:pPr marL="457200" lvl="0" indent="-228600" algn="l" rtl="0">
              <a:lnSpc>
                <a:spcPct val="115000"/>
              </a:lnSpc>
              <a:spcBef>
                <a:spcPts val="0"/>
              </a:spcBef>
              <a:spcAft>
                <a:spcPts val="0"/>
              </a:spcAft>
              <a:buClr>
                <a:schemeClr val="dk1"/>
              </a:buClr>
              <a:buSzPct val="100000"/>
              <a:buFont typeface="Calibri"/>
              <a:buNone/>
            </a:pPr>
            <a:r>
              <a:rPr lang="en" sz="1732" dirty="0"/>
              <a:t>Reasons for Choosing BERT:</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Proven effectiveness in understanding context and nuance in language, crucial for accurate NLP applications.</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Extensive community support and ongoing improvements, ensuring the model stays relevant and powerful.</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Availability of various BERT variants (e.g., </a:t>
            </a:r>
            <a:r>
              <a:rPr lang="en" sz="1732" dirty="0" err="1"/>
              <a:t>DistilBERT</a:t>
            </a:r>
            <a:r>
              <a:rPr lang="en" sz="1732" dirty="0"/>
              <a:t>, BioBERT) allows for flexibility in balancing performance and resource requirements.</a:t>
            </a:r>
            <a:endParaRPr sz="1732" dirty="0"/>
          </a:p>
          <a:p>
            <a:pPr marL="457200" lvl="0" indent="-228600" algn="l" rtl="0">
              <a:lnSpc>
                <a:spcPct val="115000"/>
              </a:lnSpc>
              <a:spcBef>
                <a:spcPts val="0"/>
              </a:spcBef>
              <a:spcAft>
                <a:spcPts val="0"/>
              </a:spcAft>
              <a:buClr>
                <a:schemeClr val="dk1"/>
              </a:buClr>
              <a:buSzPct val="100000"/>
              <a:buFont typeface="Calibri"/>
              <a:buNone/>
            </a:pPr>
            <a:r>
              <a:rPr lang="en" sz="1732" dirty="0"/>
              <a:t>Long-term Sustainability:</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BERT’s robustness and adaptability to new data and evolving language usage make it a sustainable choice for long-term NLP projects.</a:t>
            </a:r>
            <a:endParaRPr sz="1732" dirty="0"/>
          </a:p>
          <a:p>
            <a:pPr marL="914400" lvl="1" indent="-297354" algn="l" rtl="0">
              <a:lnSpc>
                <a:spcPct val="115000"/>
              </a:lnSpc>
              <a:spcBef>
                <a:spcPts val="0"/>
              </a:spcBef>
              <a:spcAft>
                <a:spcPts val="0"/>
              </a:spcAft>
              <a:buClr>
                <a:schemeClr val="dk1"/>
              </a:buClr>
              <a:buSzPct val="100000"/>
              <a:buFont typeface="Calibri"/>
              <a:buChar char="●"/>
            </a:pPr>
            <a:r>
              <a:rPr lang="en" sz="1732" dirty="0"/>
              <a:t>Regular updates and community-driven enhancements contribute to its enduring relevance and efficacy.</a:t>
            </a:r>
            <a:endParaRPr sz="1732" dirty="0"/>
          </a:p>
          <a:p>
            <a:pPr marL="0" lvl="0" indent="0" algn="l" rtl="0">
              <a:spcBef>
                <a:spcPts val="1500"/>
              </a:spcBef>
              <a:spcAft>
                <a:spcPts val="0"/>
              </a:spcAft>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7"/>
          <p:cNvSpPr txBox="1">
            <a:spLocks noGrp="1"/>
          </p:cNvSpPr>
          <p:nvPr>
            <p:ph type="title"/>
          </p:nvPr>
        </p:nvSpPr>
        <p:spPr>
          <a:xfrm>
            <a:off x="628650" y="-3"/>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startAt="10"/>
            </a:pPr>
            <a:r>
              <a:rPr lang="en" sz="2900"/>
              <a:t>Technical Challenges and Solutions</a:t>
            </a:r>
            <a:endParaRPr sz="2900"/>
          </a:p>
        </p:txBody>
      </p:sp>
      <p:sp>
        <p:nvSpPr>
          <p:cNvPr id="171" name="Google Shape;171;p27"/>
          <p:cNvSpPr txBox="1">
            <a:spLocks noGrp="1"/>
          </p:cNvSpPr>
          <p:nvPr>
            <p:ph type="body" idx="1"/>
          </p:nvPr>
        </p:nvSpPr>
        <p:spPr>
          <a:xfrm>
            <a:off x="136575" y="796925"/>
            <a:ext cx="8896800" cy="3263400"/>
          </a:xfrm>
          <a:prstGeom prst="rect">
            <a:avLst/>
          </a:prstGeom>
        </p:spPr>
        <p:txBody>
          <a:bodyPr spcFirstLastPara="1" wrap="square" lIns="68575" tIns="34275" rIns="68575" bIns="34275" anchor="t" anchorCtr="0">
            <a:normAutofit fontScale="85000" lnSpcReduction="10000"/>
          </a:bodyPr>
          <a:lstStyle/>
          <a:p>
            <a:pPr marL="457200" lvl="0" indent="-228600" algn="l" rtl="0">
              <a:lnSpc>
                <a:spcPct val="115000"/>
              </a:lnSpc>
              <a:spcBef>
                <a:spcPts val="0"/>
              </a:spcBef>
              <a:spcAft>
                <a:spcPts val="0"/>
              </a:spcAft>
              <a:buClr>
                <a:schemeClr val="dk1"/>
              </a:buClr>
              <a:buSzPct val="100000"/>
              <a:buFont typeface="Calibri"/>
              <a:buNone/>
            </a:pPr>
            <a:r>
              <a:rPr lang="en" sz="1200" dirty="0"/>
              <a:t>Challenge: Handling Large Models:</a:t>
            </a:r>
            <a:endParaRPr sz="1200" dirty="0"/>
          </a:p>
          <a:p>
            <a:pPr marL="914400" lvl="1" indent="-293369" algn="l" rtl="0">
              <a:lnSpc>
                <a:spcPct val="115000"/>
              </a:lnSpc>
              <a:spcBef>
                <a:spcPts val="0"/>
              </a:spcBef>
              <a:spcAft>
                <a:spcPts val="0"/>
              </a:spcAft>
              <a:buClr>
                <a:schemeClr val="dk1"/>
              </a:buClr>
              <a:buSzPct val="100000"/>
              <a:buFont typeface="Calibri"/>
              <a:buChar char="●"/>
            </a:pPr>
            <a:r>
              <a:rPr lang="en" sz="1200" dirty="0"/>
              <a:t>Both BERT and BioBERT are resource-intensive due to their size and complexity.</a:t>
            </a:r>
            <a:endParaRPr sz="1200" dirty="0"/>
          </a:p>
          <a:p>
            <a:pPr marL="914400" lvl="1" indent="-293369" algn="l" rtl="0">
              <a:lnSpc>
                <a:spcPct val="115000"/>
              </a:lnSpc>
              <a:spcBef>
                <a:spcPts val="0"/>
              </a:spcBef>
              <a:spcAft>
                <a:spcPts val="0"/>
              </a:spcAft>
              <a:buClr>
                <a:schemeClr val="dk1"/>
              </a:buClr>
              <a:buSzPct val="100000"/>
              <a:buFont typeface="Calibri"/>
              <a:buChar char="●"/>
            </a:pPr>
            <a:r>
              <a:rPr lang="en" sz="1200" dirty="0"/>
              <a:t>Solution: Utilize efficient hardware (GPUs/TPUs) for training and inference. Employ model optimization techniques like quantization and pruning.</a:t>
            </a:r>
            <a:endParaRPr sz="1200" dirty="0"/>
          </a:p>
          <a:p>
            <a:pPr marL="457200" lvl="0" indent="-228600" algn="l" rtl="0">
              <a:lnSpc>
                <a:spcPct val="115000"/>
              </a:lnSpc>
              <a:spcBef>
                <a:spcPts val="0"/>
              </a:spcBef>
              <a:spcAft>
                <a:spcPts val="0"/>
              </a:spcAft>
              <a:buClr>
                <a:schemeClr val="dk1"/>
              </a:buClr>
              <a:buSzPct val="100000"/>
              <a:buFont typeface="Calibri"/>
              <a:buNone/>
            </a:pPr>
            <a:r>
              <a:rPr lang="en" sz="1200" dirty="0"/>
              <a:t>Challenge: Domain-Specific Adaptations:</a:t>
            </a:r>
            <a:endParaRPr sz="1200" dirty="0"/>
          </a:p>
          <a:p>
            <a:pPr marL="914400" lvl="1" indent="-293369" algn="l" rtl="0">
              <a:lnSpc>
                <a:spcPct val="115000"/>
              </a:lnSpc>
              <a:spcBef>
                <a:spcPts val="0"/>
              </a:spcBef>
              <a:spcAft>
                <a:spcPts val="0"/>
              </a:spcAft>
              <a:buClr>
                <a:schemeClr val="dk1"/>
              </a:buClr>
              <a:buSzPct val="100000"/>
              <a:buFont typeface="Calibri"/>
              <a:buChar char="●"/>
            </a:pPr>
            <a:r>
              <a:rPr lang="en" sz="1200" dirty="0"/>
              <a:t>BioBERT needs to be effectively adapted to the specific nuances of the medical field.</a:t>
            </a:r>
            <a:endParaRPr sz="1200" dirty="0"/>
          </a:p>
          <a:p>
            <a:pPr marL="914400" lvl="1" indent="-293369" algn="l" rtl="0">
              <a:lnSpc>
                <a:spcPct val="115000"/>
              </a:lnSpc>
              <a:spcBef>
                <a:spcPts val="0"/>
              </a:spcBef>
              <a:spcAft>
                <a:spcPts val="0"/>
              </a:spcAft>
              <a:buClr>
                <a:schemeClr val="dk1"/>
              </a:buClr>
              <a:buSzPct val="100000"/>
              <a:buFont typeface="Calibri"/>
              <a:buChar char="●"/>
            </a:pPr>
            <a:r>
              <a:rPr lang="en" sz="1200" dirty="0"/>
              <a:t>Solution: Fine-tune BioBERT on domain-specific datasets (like BioASQ) to enhance its understanding of medical terminology and context.</a:t>
            </a:r>
            <a:endParaRPr sz="1200" dirty="0"/>
          </a:p>
          <a:p>
            <a:pPr marL="457200" lvl="0" indent="-228600" algn="l" rtl="0">
              <a:lnSpc>
                <a:spcPct val="115000"/>
              </a:lnSpc>
              <a:spcBef>
                <a:spcPts val="0"/>
              </a:spcBef>
              <a:spcAft>
                <a:spcPts val="0"/>
              </a:spcAft>
              <a:buClr>
                <a:schemeClr val="dk1"/>
              </a:buClr>
              <a:buSzPct val="100000"/>
              <a:buFont typeface="Calibri"/>
              <a:buNone/>
            </a:pPr>
            <a:r>
              <a:rPr lang="en" sz="1200" dirty="0"/>
              <a:t>Challenge: Integrating with Existing Systems:</a:t>
            </a:r>
            <a:endParaRPr sz="1200" dirty="0"/>
          </a:p>
          <a:p>
            <a:pPr marL="914400" lvl="1" indent="-293369" algn="l" rtl="0">
              <a:lnSpc>
                <a:spcPct val="115000"/>
              </a:lnSpc>
              <a:spcBef>
                <a:spcPts val="0"/>
              </a:spcBef>
              <a:spcAft>
                <a:spcPts val="0"/>
              </a:spcAft>
              <a:buClr>
                <a:schemeClr val="dk1"/>
              </a:buClr>
              <a:buSzPct val="100000"/>
              <a:buFont typeface="Calibri"/>
              <a:buChar char="●"/>
            </a:pPr>
            <a:r>
              <a:rPr lang="en" sz="1200" dirty="0"/>
              <a:t>Integrating BERT-based models into existing frameworks or applications can be complex.</a:t>
            </a:r>
            <a:endParaRPr sz="1200" dirty="0"/>
          </a:p>
          <a:p>
            <a:pPr marL="914400" lvl="1" indent="-293369" algn="l" rtl="0">
              <a:lnSpc>
                <a:spcPct val="115000"/>
              </a:lnSpc>
              <a:spcBef>
                <a:spcPts val="0"/>
              </a:spcBef>
              <a:spcAft>
                <a:spcPts val="0"/>
              </a:spcAft>
              <a:buClr>
                <a:schemeClr val="dk1"/>
              </a:buClr>
              <a:buSzPct val="100000"/>
              <a:buFont typeface="Calibri"/>
              <a:buChar char="●"/>
            </a:pPr>
            <a:r>
              <a:rPr lang="en" sz="1200" dirty="0"/>
              <a:t>Solution: Use APIs and microservices architecture for seamless integration. Employ containerization tools like Docker for deployment consistency.</a:t>
            </a:r>
            <a:endParaRPr sz="1200" dirty="0"/>
          </a:p>
          <a:p>
            <a:pPr marL="457200" lvl="0" indent="-228600" algn="l" rtl="0">
              <a:lnSpc>
                <a:spcPct val="115000"/>
              </a:lnSpc>
              <a:spcBef>
                <a:spcPts val="0"/>
              </a:spcBef>
              <a:spcAft>
                <a:spcPts val="0"/>
              </a:spcAft>
              <a:buClr>
                <a:schemeClr val="dk1"/>
              </a:buClr>
              <a:buSzPct val="100000"/>
              <a:buFont typeface="Calibri"/>
              <a:buNone/>
            </a:pPr>
            <a:r>
              <a:rPr lang="en" sz="1200" dirty="0"/>
              <a:t>Challenge: Data Preprocessing and Tokenization:</a:t>
            </a:r>
            <a:endParaRPr sz="1200" dirty="0"/>
          </a:p>
          <a:p>
            <a:pPr marL="914400" lvl="1" indent="-293369" algn="l" rtl="0">
              <a:lnSpc>
                <a:spcPct val="115000"/>
              </a:lnSpc>
              <a:spcBef>
                <a:spcPts val="0"/>
              </a:spcBef>
              <a:spcAft>
                <a:spcPts val="0"/>
              </a:spcAft>
              <a:buClr>
                <a:schemeClr val="dk1"/>
              </a:buClr>
              <a:buSzPct val="100000"/>
              <a:buFont typeface="Calibri"/>
              <a:buChar char="●"/>
            </a:pPr>
            <a:r>
              <a:rPr lang="en" sz="1200" dirty="0"/>
              <a:t>Efficient preprocessing is crucial, especially for medical texts with unique terminologies.</a:t>
            </a:r>
            <a:endParaRPr sz="1200" dirty="0"/>
          </a:p>
          <a:p>
            <a:pPr marL="914400" lvl="1" indent="-293369" algn="l" rtl="0">
              <a:lnSpc>
                <a:spcPct val="115000"/>
              </a:lnSpc>
              <a:spcBef>
                <a:spcPts val="0"/>
              </a:spcBef>
              <a:spcAft>
                <a:spcPts val="0"/>
              </a:spcAft>
              <a:buClr>
                <a:schemeClr val="dk1"/>
              </a:buClr>
              <a:buSzPct val="100000"/>
              <a:buFont typeface="Calibri"/>
              <a:buChar char="●"/>
            </a:pPr>
            <a:r>
              <a:rPr lang="en" sz="1200" dirty="0"/>
              <a:t>Solution: Implement advanced tokenization and text normalization techniques tailored for medical data. Leverage custom tokenizers if necessary.</a:t>
            </a:r>
            <a:endParaRPr sz="1200" dirty="0"/>
          </a:p>
          <a:p>
            <a:pPr marL="457200" lvl="0" indent="-228600" algn="l" rtl="0">
              <a:lnSpc>
                <a:spcPct val="115000"/>
              </a:lnSpc>
              <a:spcBef>
                <a:spcPts val="0"/>
              </a:spcBef>
              <a:spcAft>
                <a:spcPts val="0"/>
              </a:spcAft>
              <a:buClr>
                <a:schemeClr val="dk1"/>
              </a:buClr>
              <a:buSzPct val="100000"/>
              <a:buFont typeface="Calibri"/>
              <a:buNone/>
            </a:pPr>
            <a:r>
              <a:rPr lang="en" sz="1200" dirty="0"/>
              <a:t>Challenge: Balancing Accuracy and Response Time:</a:t>
            </a:r>
            <a:endParaRPr sz="1200" dirty="0"/>
          </a:p>
          <a:p>
            <a:pPr marL="914400" lvl="1" indent="-293369" algn="l" rtl="0">
              <a:lnSpc>
                <a:spcPct val="115000"/>
              </a:lnSpc>
              <a:spcBef>
                <a:spcPts val="0"/>
              </a:spcBef>
              <a:spcAft>
                <a:spcPts val="0"/>
              </a:spcAft>
              <a:buClr>
                <a:schemeClr val="dk1"/>
              </a:buClr>
              <a:buSzPct val="100000"/>
              <a:buFont typeface="Calibri"/>
              <a:buChar char="●"/>
            </a:pPr>
            <a:r>
              <a:rPr lang="en" sz="1200" dirty="0"/>
              <a:t>Ensuring that the chatbot responds accurately without significant delays.</a:t>
            </a:r>
            <a:endParaRPr sz="1200" dirty="0"/>
          </a:p>
          <a:p>
            <a:pPr marL="914400" lvl="1" indent="-293369" algn="l" rtl="0">
              <a:lnSpc>
                <a:spcPct val="115000"/>
              </a:lnSpc>
              <a:spcBef>
                <a:spcPts val="0"/>
              </a:spcBef>
              <a:spcAft>
                <a:spcPts val="0"/>
              </a:spcAft>
              <a:buClr>
                <a:schemeClr val="dk1"/>
              </a:buClr>
              <a:buSzPct val="100000"/>
              <a:buFont typeface="Calibri"/>
              <a:buChar char="●"/>
            </a:pPr>
            <a:r>
              <a:rPr lang="en" sz="1200" dirty="0"/>
              <a:t>Solution: Optimize the balance between model complexity and inference speed. Consider using distilled versions like </a:t>
            </a:r>
            <a:r>
              <a:rPr lang="en" sz="1200" dirty="0" err="1"/>
              <a:t>DistilBERT</a:t>
            </a:r>
            <a:r>
              <a:rPr lang="en" sz="1200" dirty="0"/>
              <a:t> for faster responses.</a:t>
            </a:r>
            <a:endParaRPr sz="1200" dirty="0"/>
          </a:p>
          <a:p>
            <a:pPr marL="457200" lvl="0" indent="-228600" algn="l" rtl="0">
              <a:lnSpc>
                <a:spcPct val="115000"/>
              </a:lnSpc>
              <a:spcBef>
                <a:spcPts val="0"/>
              </a:spcBef>
              <a:spcAft>
                <a:spcPts val="0"/>
              </a:spcAft>
              <a:buClr>
                <a:schemeClr val="dk1"/>
              </a:buClr>
              <a:buSzPct val="100000"/>
              <a:buFont typeface="Calibri"/>
              <a:buNone/>
            </a:pPr>
            <a:r>
              <a:rPr lang="en" sz="1200" dirty="0"/>
              <a:t>Challenge: Continual Learning and Updating:</a:t>
            </a:r>
            <a:endParaRPr sz="1200" dirty="0"/>
          </a:p>
          <a:p>
            <a:pPr marL="914400" lvl="1" indent="-293369" algn="l" rtl="0">
              <a:lnSpc>
                <a:spcPct val="115000"/>
              </a:lnSpc>
              <a:spcBef>
                <a:spcPts val="0"/>
              </a:spcBef>
              <a:spcAft>
                <a:spcPts val="0"/>
              </a:spcAft>
              <a:buClr>
                <a:schemeClr val="dk1"/>
              </a:buClr>
              <a:buSzPct val="100000"/>
              <a:buFont typeface="Calibri"/>
              <a:buChar char="●"/>
            </a:pPr>
            <a:r>
              <a:rPr lang="en" sz="1200" dirty="0"/>
              <a:t>Keeping the model up-to-date with the latest medical knowledge and research.</a:t>
            </a:r>
            <a:endParaRPr sz="1200" dirty="0"/>
          </a:p>
          <a:p>
            <a:pPr marL="914400" lvl="1" indent="-293369" algn="l" rtl="0">
              <a:lnSpc>
                <a:spcPct val="115000"/>
              </a:lnSpc>
              <a:spcBef>
                <a:spcPts val="0"/>
              </a:spcBef>
              <a:spcAft>
                <a:spcPts val="0"/>
              </a:spcAft>
              <a:buClr>
                <a:schemeClr val="dk1"/>
              </a:buClr>
              <a:buSzPct val="100000"/>
              <a:buFont typeface="Calibri"/>
              <a:buChar char="●"/>
            </a:pPr>
            <a:r>
              <a:rPr lang="en" sz="1200" dirty="0"/>
              <a:t>Solution: Implement a system for continuous learning and model updating. Periodically retrain the model with new data.</a:t>
            </a:r>
            <a:endParaRPr sz="1200" dirty="0"/>
          </a:p>
          <a:p>
            <a:pPr marL="0" lvl="0" indent="0" algn="l" rtl="0">
              <a:spcBef>
                <a:spcPts val="1500"/>
              </a:spcBef>
              <a:spcAft>
                <a:spcPts val="0"/>
              </a:spcAft>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8"/>
          <p:cNvSpPr txBox="1">
            <a:spLocks noGrp="1"/>
          </p:cNvSpPr>
          <p:nvPr>
            <p:ph type="title"/>
          </p:nvPr>
        </p:nvSpPr>
        <p:spPr>
          <a:xfrm>
            <a:off x="628650" y="-3"/>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startAt="11"/>
            </a:pPr>
            <a:r>
              <a:rPr lang="en" sz="2900"/>
              <a:t>Future Enhancement</a:t>
            </a:r>
            <a:endParaRPr sz="2900"/>
          </a:p>
        </p:txBody>
      </p:sp>
      <p:sp>
        <p:nvSpPr>
          <p:cNvPr id="177" name="Google Shape;177;p28"/>
          <p:cNvSpPr txBox="1">
            <a:spLocks noGrp="1"/>
          </p:cNvSpPr>
          <p:nvPr>
            <p:ph type="body" idx="1"/>
          </p:nvPr>
        </p:nvSpPr>
        <p:spPr>
          <a:xfrm>
            <a:off x="45525" y="842450"/>
            <a:ext cx="8988000" cy="3263400"/>
          </a:xfrm>
          <a:prstGeom prst="rect">
            <a:avLst/>
          </a:prstGeom>
        </p:spPr>
        <p:txBody>
          <a:bodyPr spcFirstLastPara="1" wrap="square" lIns="68575" tIns="34275" rIns="68575" bIns="34275" anchor="t" anchorCtr="0">
            <a:normAutofit fontScale="92500" lnSpcReduction="10000"/>
          </a:bodyPr>
          <a:lstStyle/>
          <a:p>
            <a:pPr marL="457200" lvl="0" indent="-228600" algn="l" rtl="0">
              <a:lnSpc>
                <a:spcPct val="115000"/>
              </a:lnSpc>
              <a:spcBef>
                <a:spcPts val="0"/>
              </a:spcBef>
              <a:spcAft>
                <a:spcPts val="0"/>
              </a:spcAft>
              <a:buClr>
                <a:schemeClr val="dk1"/>
              </a:buClr>
              <a:buSzPct val="100000"/>
              <a:buFont typeface="Calibri"/>
              <a:buNone/>
            </a:pPr>
            <a:r>
              <a:rPr lang="en" sz="1200"/>
              <a:t>Advanced Model Integration:</a:t>
            </a:r>
            <a:endParaRPr sz="1200"/>
          </a:p>
          <a:p>
            <a:pPr marL="914400" lvl="1" indent="-293369" algn="l" rtl="0">
              <a:lnSpc>
                <a:spcPct val="115000"/>
              </a:lnSpc>
              <a:spcBef>
                <a:spcPts val="0"/>
              </a:spcBef>
              <a:spcAft>
                <a:spcPts val="0"/>
              </a:spcAft>
              <a:buClr>
                <a:schemeClr val="dk1"/>
              </a:buClr>
              <a:buSzPct val="100000"/>
              <a:buFont typeface="Calibri"/>
              <a:buChar char="●"/>
            </a:pPr>
            <a:r>
              <a:rPr lang="en" sz="1200"/>
              <a:t>Explore integrating more advanced NLP models like GPT-3 or newer BERT variants for enhanced understanding and response generation.</a:t>
            </a:r>
            <a:endParaRPr sz="1200"/>
          </a:p>
          <a:p>
            <a:pPr marL="914400" lvl="1" indent="-293369" algn="l" rtl="0">
              <a:lnSpc>
                <a:spcPct val="115000"/>
              </a:lnSpc>
              <a:spcBef>
                <a:spcPts val="0"/>
              </a:spcBef>
              <a:spcAft>
                <a:spcPts val="0"/>
              </a:spcAft>
              <a:buClr>
                <a:schemeClr val="dk1"/>
              </a:buClr>
              <a:buSzPct val="100000"/>
              <a:buFont typeface="Calibri"/>
              <a:buChar char="●"/>
            </a:pPr>
            <a:r>
              <a:rPr lang="en" sz="1200"/>
              <a:t>Consider hybrid models that combine the strengths of extractive and generative approaches.</a:t>
            </a:r>
            <a:endParaRPr sz="1200"/>
          </a:p>
          <a:p>
            <a:pPr marL="457200" lvl="0" indent="-228600" algn="l" rtl="0">
              <a:lnSpc>
                <a:spcPct val="115000"/>
              </a:lnSpc>
              <a:spcBef>
                <a:spcPts val="0"/>
              </a:spcBef>
              <a:spcAft>
                <a:spcPts val="0"/>
              </a:spcAft>
              <a:buClr>
                <a:schemeClr val="dk1"/>
              </a:buClr>
              <a:buSzPct val="100000"/>
              <a:buFont typeface="Calibri"/>
              <a:buNone/>
            </a:pPr>
            <a:r>
              <a:rPr lang="en" sz="1200"/>
              <a:t>Multi-Language Support:</a:t>
            </a:r>
            <a:endParaRPr sz="1200"/>
          </a:p>
          <a:p>
            <a:pPr marL="914400" lvl="1" indent="-293369" algn="l" rtl="0">
              <a:lnSpc>
                <a:spcPct val="115000"/>
              </a:lnSpc>
              <a:spcBef>
                <a:spcPts val="0"/>
              </a:spcBef>
              <a:spcAft>
                <a:spcPts val="0"/>
              </a:spcAft>
              <a:buClr>
                <a:schemeClr val="dk1"/>
              </a:buClr>
              <a:buSzPct val="100000"/>
              <a:buFont typeface="Calibri"/>
              <a:buChar char="●"/>
            </a:pPr>
            <a:r>
              <a:rPr lang="en" sz="1200"/>
              <a:t>Expand the chatbot’s capabilities to include multiple languages, enhancing its accessibility and usability across different regions.</a:t>
            </a:r>
            <a:endParaRPr sz="1200"/>
          </a:p>
          <a:p>
            <a:pPr marL="457200" lvl="0" indent="-228600" algn="l" rtl="0">
              <a:lnSpc>
                <a:spcPct val="115000"/>
              </a:lnSpc>
              <a:spcBef>
                <a:spcPts val="0"/>
              </a:spcBef>
              <a:spcAft>
                <a:spcPts val="0"/>
              </a:spcAft>
              <a:buClr>
                <a:schemeClr val="dk1"/>
              </a:buClr>
              <a:buSzPct val="100000"/>
              <a:buFont typeface="Calibri"/>
              <a:buNone/>
            </a:pPr>
            <a:r>
              <a:rPr lang="en" sz="1200"/>
              <a:t>Personalization and User Profiling:</a:t>
            </a:r>
            <a:endParaRPr sz="1200"/>
          </a:p>
          <a:p>
            <a:pPr marL="914400" lvl="1" indent="-293369" algn="l" rtl="0">
              <a:lnSpc>
                <a:spcPct val="115000"/>
              </a:lnSpc>
              <a:spcBef>
                <a:spcPts val="0"/>
              </a:spcBef>
              <a:spcAft>
                <a:spcPts val="0"/>
              </a:spcAft>
              <a:buClr>
                <a:schemeClr val="dk1"/>
              </a:buClr>
              <a:buSzPct val="100000"/>
              <a:buFont typeface="Calibri"/>
              <a:buChar char="●"/>
            </a:pPr>
            <a:r>
              <a:rPr lang="en" sz="1200"/>
              <a:t>Implement AI-driven personalization to tailor responses based on user history, preferences, and behavior.</a:t>
            </a:r>
            <a:endParaRPr sz="1200"/>
          </a:p>
          <a:p>
            <a:pPr marL="914400" lvl="1" indent="-293369" algn="l" rtl="0">
              <a:lnSpc>
                <a:spcPct val="115000"/>
              </a:lnSpc>
              <a:spcBef>
                <a:spcPts val="0"/>
              </a:spcBef>
              <a:spcAft>
                <a:spcPts val="0"/>
              </a:spcAft>
              <a:buClr>
                <a:schemeClr val="dk1"/>
              </a:buClr>
              <a:buSzPct val="100000"/>
              <a:buFont typeface="Calibri"/>
              <a:buChar char="●"/>
            </a:pPr>
            <a:r>
              <a:rPr lang="en" sz="1200"/>
              <a:t>Develop user profiling techniques for more context-aware and personalized interactions.</a:t>
            </a:r>
            <a:endParaRPr sz="1200"/>
          </a:p>
          <a:p>
            <a:pPr marL="457200" lvl="0" indent="-228600" algn="l" rtl="0">
              <a:lnSpc>
                <a:spcPct val="115000"/>
              </a:lnSpc>
              <a:spcBef>
                <a:spcPts val="0"/>
              </a:spcBef>
              <a:spcAft>
                <a:spcPts val="0"/>
              </a:spcAft>
              <a:buClr>
                <a:schemeClr val="dk1"/>
              </a:buClr>
              <a:buSzPct val="100000"/>
              <a:buFont typeface="Calibri"/>
              <a:buNone/>
            </a:pPr>
            <a:r>
              <a:rPr lang="en" sz="1200"/>
              <a:t>Voice and Image Recognition:</a:t>
            </a:r>
            <a:endParaRPr sz="1200"/>
          </a:p>
          <a:p>
            <a:pPr marL="914400" lvl="1" indent="-293369" algn="l" rtl="0">
              <a:lnSpc>
                <a:spcPct val="115000"/>
              </a:lnSpc>
              <a:spcBef>
                <a:spcPts val="0"/>
              </a:spcBef>
              <a:spcAft>
                <a:spcPts val="0"/>
              </a:spcAft>
              <a:buClr>
                <a:schemeClr val="dk1"/>
              </a:buClr>
              <a:buSzPct val="100000"/>
              <a:buFont typeface="Calibri"/>
              <a:buChar char="●"/>
            </a:pPr>
            <a:r>
              <a:rPr lang="en" sz="1200"/>
              <a:t>Incorporate voice recognition for voice-based queries and responses, broadening the chatbot’s interaction modalities.</a:t>
            </a:r>
            <a:endParaRPr sz="1200"/>
          </a:p>
          <a:p>
            <a:pPr marL="914400" lvl="1" indent="-293369" algn="l" rtl="0">
              <a:lnSpc>
                <a:spcPct val="115000"/>
              </a:lnSpc>
              <a:spcBef>
                <a:spcPts val="0"/>
              </a:spcBef>
              <a:spcAft>
                <a:spcPts val="0"/>
              </a:spcAft>
              <a:buClr>
                <a:schemeClr val="dk1"/>
              </a:buClr>
              <a:buSzPct val="100000"/>
              <a:buFont typeface="Calibri"/>
              <a:buChar char="●"/>
            </a:pPr>
            <a:r>
              <a:rPr lang="en" sz="1200"/>
              <a:t>Explore image recognition capabilities to allow the chatbot to respond to visual inputs, making it more versatile in user assistance.</a:t>
            </a:r>
            <a:endParaRPr sz="1200"/>
          </a:p>
          <a:p>
            <a:pPr marL="457200" lvl="0" indent="-228600" algn="l" rtl="0">
              <a:lnSpc>
                <a:spcPct val="115000"/>
              </a:lnSpc>
              <a:spcBef>
                <a:spcPts val="0"/>
              </a:spcBef>
              <a:spcAft>
                <a:spcPts val="0"/>
              </a:spcAft>
              <a:buClr>
                <a:schemeClr val="dk1"/>
              </a:buClr>
              <a:buSzPct val="100000"/>
              <a:buFont typeface="Calibri"/>
              <a:buNone/>
            </a:pPr>
            <a:r>
              <a:rPr lang="en" sz="1200"/>
              <a:t>Continuous Learning and Adaptation:</a:t>
            </a:r>
            <a:endParaRPr sz="1200"/>
          </a:p>
          <a:p>
            <a:pPr marL="914400" lvl="1" indent="-293369" algn="l" rtl="0">
              <a:lnSpc>
                <a:spcPct val="115000"/>
              </a:lnSpc>
              <a:spcBef>
                <a:spcPts val="0"/>
              </a:spcBef>
              <a:spcAft>
                <a:spcPts val="0"/>
              </a:spcAft>
              <a:buClr>
                <a:schemeClr val="dk1"/>
              </a:buClr>
              <a:buSzPct val="100000"/>
              <a:buFont typeface="Calibri"/>
              <a:buChar char="●"/>
            </a:pPr>
            <a:r>
              <a:rPr lang="en" sz="1200"/>
              <a:t>Implement mechanisms for continuous learning, allowing the chatbot to update its knowledge base and adapt to new information or language usage patterns.</a:t>
            </a:r>
            <a:endParaRPr sz="1200"/>
          </a:p>
          <a:p>
            <a:pPr marL="914400" lvl="1" indent="-293369" algn="l" rtl="0">
              <a:lnSpc>
                <a:spcPct val="115000"/>
              </a:lnSpc>
              <a:spcBef>
                <a:spcPts val="0"/>
              </a:spcBef>
              <a:spcAft>
                <a:spcPts val="0"/>
              </a:spcAft>
              <a:buClr>
                <a:schemeClr val="dk1"/>
              </a:buClr>
              <a:buSzPct val="100000"/>
              <a:buFont typeface="Calibri"/>
              <a:buChar char="●"/>
            </a:pPr>
            <a:r>
              <a:rPr lang="en" sz="1200"/>
              <a:t>Explore self-learning algorithms for ongoing improvement in accuracy and relevance.</a:t>
            </a:r>
            <a:endParaRPr sz="1200"/>
          </a:p>
          <a:p>
            <a:pPr marL="457200" lvl="0" indent="-228600" algn="l" rtl="0">
              <a:lnSpc>
                <a:spcPct val="115000"/>
              </a:lnSpc>
              <a:spcBef>
                <a:spcPts val="0"/>
              </a:spcBef>
              <a:spcAft>
                <a:spcPts val="0"/>
              </a:spcAft>
              <a:buClr>
                <a:schemeClr val="dk1"/>
              </a:buClr>
              <a:buSzPct val="100000"/>
              <a:buFont typeface="Calibri"/>
              <a:buNone/>
            </a:pPr>
            <a:r>
              <a:rPr lang="en" sz="1200"/>
              <a:t>User Feedback and Improvement Loop:</a:t>
            </a:r>
            <a:endParaRPr sz="1200"/>
          </a:p>
          <a:p>
            <a:pPr marL="914400" lvl="1" indent="-293369" algn="l" rtl="0">
              <a:lnSpc>
                <a:spcPct val="115000"/>
              </a:lnSpc>
              <a:spcBef>
                <a:spcPts val="0"/>
              </a:spcBef>
              <a:spcAft>
                <a:spcPts val="0"/>
              </a:spcAft>
              <a:buClr>
                <a:schemeClr val="dk1"/>
              </a:buClr>
              <a:buSzPct val="100000"/>
              <a:buFont typeface="Calibri"/>
              <a:buChar char="●"/>
            </a:pPr>
            <a:r>
              <a:rPr lang="en" sz="1200"/>
              <a:t>Integrate a user feedback system to gather insights on performance and user satisfaction.</a:t>
            </a:r>
            <a:endParaRPr sz="1200"/>
          </a:p>
          <a:p>
            <a:pPr marL="914400" lvl="1" indent="-293369" algn="l" rtl="0">
              <a:lnSpc>
                <a:spcPct val="115000"/>
              </a:lnSpc>
              <a:spcBef>
                <a:spcPts val="0"/>
              </a:spcBef>
              <a:spcAft>
                <a:spcPts val="0"/>
              </a:spcAft>
              <a:buClr>
                <a:schemeClr val="dk1"/>
              </a:buClr>
              <a:buSzPct val="100000"/>
              <a:buFont typeface="Calibri"/>
              <a:buChar char="●"/>
            </a:pPr>
            <a:r>
              <a:rPr lang="en" sz="1200"/>
              <a:t>Utilize this feedback for iterative improvements and enhancements to the chatbot.</a:t>
            </a:r>
            <a:endParaRPr sz="1200"/>
          </a:p>
          <a:p>
            <a:pPr marL="0" lvl="0" indent="0" algn="l" rtl="0">
              <a:spcBef>
                <a:spcPts val="150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txBox="1">
            <a:spLocks noGrp="1"/>
          </p:cNvSpPr>
          <p:nvPr>
            <p:ph type="title"/>
          </p:nvPr>
        </p:nvSpPr>
        <p:spPr>
          <a:xfrm>
            <a:off x="628650" y="-198128"/>
            <a:ext cx="7886700" cy="994200"/>
          </a:xfrm>
          <a:prstGeom prst="rect">
            <a:avLst/>
          </a:prstGeom>
        </p:spPr>
        <p:txBody>
          <a:bodyPr spcFirstLastPara="1" wrap="square" lIns="68575" tIns="34275" rIns="68575" bIns="34275" anchor="ctr" anchorCtr="0">
            <a:normAutofit/>
          </a:bodyPr>
          <a:lstStyle/>
          <a:p>
            <a:pPr marL="457200" lvl="0" indent="-412750" algn="l" rtl="0">
              <a:spcBef>
                <a:spcPts val="0"/>
              </a:spcBef>
              <a:spcAft>
                <a:spcPts val="0"/>
              </a:spcAft>
              <a:buSzPts val="2900"/>
              <a:buAutoNum type="romanUcPeriod" startAt="13"/>
            </a:pPr>
            <a:r>
              <a:rPr lang="en" sz="2900"/>
              <a:t>Conclusion:</a:t>
            </a:r>
            <a:endParaRPr sz="2900"/>
          </a:p>
        </p:txBody>
      </p:sp>
      <p:sp>
        <p:nvSpPr>
          <p:cNvPr id="183" name="Google Shape;183;p29"/>
          <p:cNvSpPr txBox="1">
            <a:spLocks noGrp="1"/>
          </p:cNvSpPr>
          <p:nvPr>
            <p:ph type="body" idx="1"/>
          </p:nvPr>
        </p:nvSpPr>
        <p:spPr>
          <a:xfrm>
            <a:off x="141766" y="546300"/>
            <a:ext cx="8887933" cy="3263400"/>
          </a:xfrm>
          <a:prstGeom prst="rect">
            <a:avLst/>
          </a:prstGeom>
        </p:spPr>
        <p:txBody>
          <a:bodyPr spcFirstLastPara="1" wrap="square" lIns="68575" tIns="34275" rIns="68575" bIns="34275" anchor="t" anchorCtr="0">
            <a:noAutofit/>
          </a:bodyPr>
          <a:lstStyle/>
          <a:p>
            <a:pPr marL="228600" lvl="0" indent="-228600" rtl="0">
              <a:lnSpc>
                <a:spcPct val="95000"/>
              </a:lnSpc>
              <a:spcBef>
                <a:spcPts val="0"/>
              </a:spcBef>
              <a:spcAft>
                <a:spcPts val="0"/>
              </a:spcAft>
              <a:buClr>
                <a:schemeClr val="dk1"/>
              </a:buClr>
              <a:buSzPts val="523"/>
              <a:buFont typeface="Wingdings" pitchFamily="2" charset="2"/>
              <a:buChar char="v"/>
            </a:pPr>
            <a:r>
              <a:rPr lang="en-US" sz="1050" dirty="0">
                <a:solidFill>
                  <a:schemeClr val="tx1"/>
                </a:solidFill>
                <a:latin typeface="Calibri" panose="020F0502020204030204" pitchFamily="34" charset="0"/>
                <a:cs typeface="Calibri" panose="020F0502020204030204" pitchFamily="34" charset="0"/>
              </a:rPr>
              <a:t>Objective: to develop a sophisticated chatbot using BERT and </a:t>
            </a:r>
            <a:r>
              <a:rPr lang="en-US" sz="1050" dirty="0" err="1">
                <a:solidFill>
                  <a:schemeClr val="tx1"/>
                </a:solidFill>
                <a:latin typeface="Calibri" panose="020F0502020204030204" pitchFamily="34" charset="0"/>
                <a:cs typeface="Calibri" panose="020F0502020204030204" pitchFamily="34" charset="0"/>
              </a:rPr>
              <a:t>biobert</a:t>
            </a:r>
            <a:r>
              <a:rPr lang="en-US" sz="1050" dirty="0">
                <a:solidFill>
                  <a:schemeClr val="tx1"/>
                </a:solidFill>
                <a:latin typeface="Calibri" panose="020F0502020204030204" pitchFamily="34" charset="0"/>
                <a:cs typeface="Calibri" panose="020F0502020204030204" pitchFamily="34" charset="0"/>
              </a:rPr>
              <a:t> models, tailored to efficiently answer complex questions in the medical domain.</a:t>
            </a:r>
          </a:p>
          <a:p>
            <a:pPr marL="0" lvl="0" indent="0" rtl="0">
              <a:lnSpc>
                <a:spcPct val="95000"/>
              </a:lnSpc>
              <a:spcBef>
                <a:spcPts val="0"/>
              </a:spcBef>
              <a:spcAft>
                <a:spcPts val="0"/>
              </a:spcAft>
              <a:buClr>
                <a:schemeClr val="dk1"/>
              </a:buClr>
              <a:buSzPts val="523"/>
              <a:buNone/>
            </a:pPr>
            <a:endParaRPr lang="en-US" sz="1050" i="1" dirty="0">
              <a:solidFill>
                <a:schemeClr val="tx1"/>
              </a:solidFill>
              <a:latin typeface="Calibri" panose="020F0502020204030204" pitchFamily="34" charset="0"/>
              <a:cs typeface="Calibri" panose="020F0502020204030204" pitchFamily="34" charset="0"/>
            </a:endParaRPr>
          </a:p>
          <a:p>
            <a:pPr marL="0" lvl="0" indent="0" rtl="0">
              <a:lnSpc>
                <a:spcPct val="95000"/>
              </a:lnSpc>
              <a:spcBef>
                <a:spcPts val="0"/>
              </a:spcBef>
              <a:spcAft>
                <a:spcPts val="0"/>
              </a:spcAft>
              <a:buClr>
                <a:schemeClr val="dk1"/>
              </a:buClr>
              <a:buSzPts val="523"/>
              <a:buNone/>
            </a:pPr>
            <a:r>
              <a:rPr lang="en-US" sz="1050" i="1" u="sng" dirty="0">
                <a:solidFill>
                  <a:schemeClr val="tx1"/>
                </a:solidFill>
                <a:effectLst/>
                <a:latin typeface="Calibri" panose="020F0502020204030204" pitchFamily="34" charset="0"/>
                <a:cs typeface="Calibri" panose="020F0502020204030204" pitchFamily="34" charset="0"/>
              </a:rPr>
              <a:t>Key approaches &amp; insights:</a:t>
            </a:r>
          </a:p>
          <a:p>
            <a:pPr marL="228600" lvl="0" indent="-228600" rtl="0">
              <a:lnSpc>
                <a:spcPct val="95000"/>
              </a:lnSpc>
              <a:spcBef>
                <a:spcPts val="0"/>
              </a:spcBef>
              <a:spcAft>
                <a:spcPts val="0"/>
              </a:spcAft>
              <a:buClr>
                <a:schemeClr val="dk1"/>
              </a:buClr>
              <a:buSzPts val="523"/>
              <a:buFont typeface="Wingdings" pitchFamily="2" charset="2"/>
              <a:buChar char="v"/>
            </a:pPr>
            <a:r>
              <a:rPr lang="en-US" sz="1050" i="0" dirty="0" err="1">
                <a:solidFill>
                  <a:schemeClr val="tx1"/>
                </a:solidFill>
                <a:effectLst/>
                <a:latin typeface="Calibri" panose="020F0502020204030204" pitchFamily="34" charset="0"/>
                <a:cs typeface="Calibri" panose="020F0502020204030204" pitchFamily="34" charset="0"/>
              </a:rPr>
              <a:t>BioBERT</a:t>
            </a:r>
            <a:r>
              <a:rPr lang="en-US" sz="1050" i="0" dirty="0">
                <a:solidFill>
                  <a:schemeClr val="tx1"/>
                </a:solidFill>
                <a:effectLst/>
                <a:latin typeface="Calibri" panose="020F0502020204030204" pitchFamily="34" charset="0"/>
                <a:cs typeface="Calibri" panose="020F0502020204030204" pitchFamily="34" charset="0"/>
              </a:rPr>
              <a:t> Transformer Model for </a:t>
            </a:r>
            <a:r>
              <a:rPr lang="en-US" sz="1050" dirty="0" err="1">
                <a:solidFill>
                  <a:schemeClr val="tx1"/>
                </a:solidFill>
                <a:latin typeface="Calibri" panose="020F0502020204030204" pitchFamily="34" charset="0"/>
                <a:cs typeface="Calibri" panose="020F0502020204030204" pitchFamily="34" charset="0"/>
              </a:rPr>
              <a:t>B</a:t>
            </a:r>
            <a:r>
              <a:rPr lang="en-US" sz="1050" i="0" dirty="0" err="1">
                <a:solidFill>
                  <a:schemeClr val="tx1"/>
                </a:solidFill>
                <a:effectLst/>
                <a:latin typeface="Calibri" panose="020F0502020204030204" pitchFamily="34" charset="0"/>
                <a:cs typeface="Calibri" panose="020F0502020204030204" pitchFamily="34" charset="0"/>
              </a:rPr>
              <a:t>ioASQ</a:t>
            </a:r>
            <a:r>
              <a:rPr lang="en-US" sz="1050" i="0" dirty="0">
                <a:solidFill>
                  <a:schemeClr val="tx1"/>
                </a:solidFill>
                <a:effectLst/>
                <a:latin typeface="Calibri" panose="020F0502020204030204" pitchFamily="34" charset="0"/>
                <a:cs typeface="Calibri" panose="020F0502020204030204" pitchFamily="34" charset="0"/>
              </a:rPr>
              <a:t> Dataset:</a:t>
            </a:r>
          </a:p>
          <a:p>
            <a:pPr marL="685800" lvl="1" indent="-228600">
              <a:lnSpc>
                <a:spcPct val="95000"/>
              </a:lnSpc>
              <a:spcBef>
                <a:spcPts val="0"/>
              </a:spcBef>
              <a:buSzPts val="523"/>
              <a:buFont typeface="Wingdings" pitchFamily="2" charset="2"/>
              <a:buChar char="v"/>
            </a:pPr>
            <a:r>
              <a:rPr lang="en-US" sz="750" i="0" dirty="0">
                <a:solidFill>
                  <a:schemeClr val="tx1"/>
                </a:solidFill>
                <a:effectLst/>
                <a:latin typeface="Calibri" panose="020F0502020204030204" pitchFamily="34" charset="0"/>
                <a:cs typeface="Calibri" panose="020F0502020204030204" pitchFamily="34" charset="0"/>
              </a:rPr>
              <a:t>Pros: Superior understanding of biomedical context, high accuracy in domain-specific queries.</a:t>
            </a:r>
          </a:p>
          <a:p>
            <a:pPr marL="685800" lvl="1" indent="-228600">
              <a:lnSpc>
                <a:spcPct val="95000"/>
              </a:lnSpc>
              <a:spcBef>
                <a:spcPts val="0"/>
              </a:spcBef>
              <a:buSzPts val="523"/>
              <a:buFont typeface="Wingdings" pitchFamily="2" charset="2"/>
              <a:buChar char="v"/>
            </a:pPr>
            <a:r>
              <a:rPr lang="en-US" sz="750" i="0" dirty="0">
                <a:solidFill>
                  <a:schemeClr val="tx1"/>
                </a:solidFill>
                <a:effectLst/>
                <a:latin typeface="Calibri" panose="020F0502020204030204" pitchFamily="34" charset="0"/>
                <a:cs typeface="Calibri" panose="020F0502020204030204" pitchFamily="34" charset="0"/>
              </a:rPr>
              <a:t>Cons: High computational resources, risk of over-specialization.</a:t>
            </a:r>
          </a:p>
          <a:p>
            <a:pPr marL="685800" lvl="1" indent="-228600">
              <a:lnSpc>
                <a:spcPct val="95000"/>
              </a:lnSpc>
              <a:spcBef>
                <a:spcPts val="0"/>
              </a:spcBef>
              <a:buSzPts val="523"/>
              <a:buFont typeface="Wingdings" pitchFamily="2" charset="2"/>
              <a:buChar char="v"/>
            </a:pPr>
            <a:r>
              <a:rPr lang="en-US" sz="750" i="0" dirty="0">
                <a:solidFill>
                  <a:schemeClr val="tx1"/>
                </a:solidFill>
                <a:effectLst/>
                <a:latin typeface="Calibri" panose="020F0502020204030204" pitchFamily="34" charset="0"/>
                <a:cs typeface="Calibri" panose="020F0502020204030204" pitchFamily="34" charset="0"/>
              </a:rPr>
              <a:t>Literature insight: Demonstrated effectiveness in biomedical NLP tasks.</a:t>
            </a:r>
          </a:p>
          <a:p>
            <a:pPr marL="228600" lvl="0" indent="-228600" rtl="0">
              <a:lnSpc>
                <a:spcPct val="95000"/>
              </a:lnSpc>
              <a:spcBef>
                <a:spcPts val="0"/>
              </a:spcBef>
              <a:spcAft>
                <a:spcPts val="0"/>
              </a:spcAft>
              <a:buClr>
                <a:schemeClr val="dk1"/>
              </a:buClr>
              <a:buSzPts val="523"/>
              <a:buFont typeface="Wingdings" pitchFamily="2" charset="2"/>
              <a:buChar char="v"/>
            </a:pPr>
            <a:r>
              <a:rPr lang="en-US" sz="1050" i="0" dirty="0" err="1">
                <a:solidFill>
                  <a:schemeClr val="tx1"/>
                </a:solidFill>
                <a:effectLst/>
                <a:latin typeface="Calibri" panose="020F0502020204030204" pitchFamily="34" charset="0"/>
                <a:cs typeface="Calibri" panose="020F0502020204030204" pitchFamily="34" charset="0"/>
              </a:rPr>
              <a:t>DistilBERT</a:t>
            </a:r>
            <a:r>
              <a:rPr lang="en-US" sz="1050" i="0" dirty="0">
                <a:solidFill>
                  <a:schemeClr val="tx1"/>
                </a:solidFill>
                <a:effectLst/>
                <a:latin typeface="Calibri" panose="020F0502020204030204" pitchFamily="34" charset="0"/>
                <a:cs typeface="Calibri" panose="020F0502020204030204" pitchFamily="34" charset="0"/>
              </a:rPr>
              <a:t> Model for SQUAD Dataset:</a:t>
            </a:r>
          </a:p>
          <a:p>
            <a:pPr marL="685800" lvl="1" indent="-228600">
              <a:lnSpc>
                <a:spcPct val="95000"/>
              </a:lnSpc>
              <a:spcBef>
                <a:spcPts val="0"/>
              </a:spcBef>
              <a:buSzPts val="523"/>
              <a:buFont typeface="Wingdings" pitchFamily="2" charset="2"/>
              <a:buChar char="v"/>
            </a:pPr>
            <a:r>
              <a:rPr lang="en-US" sz="750" i="0" dirty="0">
                <a:solidFill>
                  <a:schemeClr val="tx1"/>
                </a:solidFill>
                <a:effectLst/>
                <a:latin typeface="Calibri" panose="020F0502020204030204" pitchFamily="34" charset="0"/>
                <a:cs typeface="Calibri" panose="020F0502020204030204" pitchFamily="34" charset="0"/>
              </a:rPr>
              <a:t>Pros: efficient, fast processing, good balance of performance and resource use.</a:t>
            </a:r>
          </a:p>
          <a:p>
            <a:pPr marL="685800" lvl="1" indent="-228600">
              <a:lnSpc>
                <a:spcPct val="95000"/>
              </a:lnSpc>
              <a:spcBef>
                <a:spcPts val="0"/>
              </a:spcBef>
              <a:buSzPts val="523"/>
              <a:buFont typeface="Wingdings" pitchFamily="2" charset="2"/>
              <a:buChar char="v"/>
            </a:pPr>
            <a:r>
              <a:rPr lang="en-US" sz="750" i="0" dirty="0">
                <a:solidFill>
                  <a:schemeClr val="tx1"/>
                </a:solidFill>
                <a:effectLst/>
                <a:latin typeface="Calibri" panose="020F0502020204030204" pitchFamily="34" charset="0"/>
                <a:cs typeface="Calibri" panose="020F0502020204030204" pitchFamily="34" charset="0"/>
              </a:rPr>
              <a:t>Cons: slightly reduced accuracy compared to full BERT models.</a:t>
            </a:r>
          </a:p>
          <a:p>
            <a:pPr marL="685800" lvl="1" indent="-228600">
              <a:lnSpc>
                <a:spcPct val="95000"/>
              </a:lnSpc>
              <a:spcBef>
                <a:spcPts val="0"/>
              </a:spcBef>
              <a:buSzPts val="523"/>
              <a:buFont typeface="Wingdings" pitchFamily="2" charset="2"/>
              <a:buChar char="v"/>
            </a:pPr>
            <a:r>
              <a:rPr lang="en-US" sz="750" i="0" dirty="0">
                <a:solidFill>
                  <a:schemeClr val="tx1"/>
                </a:solidFill>
                <a:effectLst/>
                <a:latin typeface="Calibri" panose="020F0502020204030204" pitchFamily="34" charset="0"/>
                <a:cs typeface="Calibri" panose="020F0502020204030204" pitchFamily="34" charset="0"/>
              </a:rPr>
              <a:t>Literature insight: Effective in general-purpose question-answering.</a:t>
            </a:r>
          </a:p>
          <a:p>
            <a:pPr marL="228600" lvl="0" indent="-228600" rtl="0">
              <a:lnSpc>
                <a:spcPct val="95000"/>
              </a:lnSpc>
              <a:spcBef>
                <a:spcPts val="0"/>
              </a:spcBef>
              <a:spcAft>
                <a:spcPts val="0"/>
              </a:spcAft>
              <a:buClr>
                <a:schemeClr val="dk1"/>
              </a:buClr>
              <a:buSzPts val="523"/>
              <a:buFont typeface="Wingdings" pitchFamily="2" charset="2"/>
              <a:buChar char="v"/>
            </a:pPr>
            <a:r>
              <a:rPr lang="en-US" sz="1050" i="0" dirty="0">
                <a:solidFill>
                  <a:schemeClr val="tx1"/>
                </a:solidFill>
                <a:effectLst/>
                <a:latin typeface="Calibri" panose="020F0502020204030204" pitchFamily="34" charset="0"/>
                <a:cs typeface="Calibri" panose="020F0502020204030204" pitchFamily="34" charset="0"/>
              </a:rPr>
              <a:t>Integrating PDFs and </a:t>
            </a:r>
            <a:r>
              <a:rPr lang="en-US" sz="1050" dirty="0">
                <a:solidFill>
                  <a:schemeClr val="tx1"/>
                </a:solidFill>
                <a:latin typeface="Calibri" panose="020F0502020204030204" pitchFamily="34" charset="0"/>
                <a:cs typeface="Calibri" panose="020F0502020204030204" pitchFamily="34" charset="0"/>
              </a:rPr>
              <a:t>W</a:t>
            </a:r>
            <a:r>
              <a:rPr lang="en-US" sz="1050" i="0" dirty="0">
                <a:solidFill>
                  <a:schemeClr val="tx1"/>
                </a:solidFill>
                <a:effectLst/>
                <a:latin typeface="Calibri" panose="020F0502020204030204" pitchFamily="34" charset="0"/>
                <a:cs typeface="Calibri" panose="020F0502020204030204" pitchFamily="34" charset="0"/>
              </a:rPr>
              <a:t>ikipedia:</a:t>
            </a:r>
          </a:p>
          <a:p>
            <a:pPr marL="685800" lvl="1" indent="-228600">
              <a:lnSpc>
                <a:spcPct val="95000"/>
              </a:lnSpc>
              <a:spcBef>
                <a:spcPts val="0"/>
              </a:spcBef>
              <a:buSzPts val="523"/>
              <a:buFont typeface="Wingdings" pitchFamily="2" charset="2"/>
              <a:buChar char="v"/>
            </a:pPr>
            <a:r>
              <a:rPr lang="en-US" sz="750" i="0" dirty="0">
                <a:solidFill>
                  <a:schemeClr val="tx1"/>
                </a:solidFill>
                <a:effectLst/>
                <a:latin typeface="Calibri" panose="020F0502020204030204" pitchFamily="34" charset="0"/>
                <a:cs typeface="Calibri" panose="020F0502020204030204" pitchFamily="34" charset="0"/>
              </a:rPr>
              <a:t>Pros: Broadens knowledge base, covers a wide range of medical and general queries.</a:t>
            </a:r>
          </a:p>
          <a:p>
            <a:pPr marL="685800" lvl="1" indent="-228600">
              <a:lnSpc>
                <a:spcPct val="95000"/>
              </a:lnSpc>
              <a:spcBef>
                <a:spcPts val="0"/>
              </a:spcBef>
              <a:buSzPts val="523"/>
              <a:buFont typeface="Wingdings" pitchFamily="2" charset="2"/>
              <a:buChar char="v"/>
            </a:pPr>
            <a:r>
              <a:rPr lang="en-US" sz="750" i="0" dirty="0">
                <a:solidFill>
                  <a:schemeClr val="tx1"/>
                </a:solidFill>
                <a:effectLst/>
                <a:latin typeface="Calibri" panose="020F0502020204030204" pitchFamily="34" charset="0"/>
                <a:cs typeface="Calibri" panose="020F0502020204030204" pitchFamily="34" charset="0"/>
              </a:rPr>
              <a:t>Cons: Quality control challenges, particularly with </a:t>
            </a:r>
            <a:r>
              <a:rPr lang="en-US" sz="750" dirty="0">
                <a:solidFill>
                  <a:schemeClr val="tx1"/>
                </a:solidFill>
                <a:latin typeface="Calibri" panose="020F0502020204030204" pitchFamily="34" charset="0"/>
                <a:cs typeface="Calibri" panose="020F0502020204030204" pitchFamily="34" charset="0"/>
              </a:rPr>
              <a:t>W</a:t>
            </a:r>
            <a:r>
              <a:rPr lang="en-US" sz="750" i="0" dirty="0">
                <a:solidFill>
                  <a:schemeClr val="tx1"/>
                </a:solidFill>
                <a:effectLst/>
                <a:latin typeface="Calibri" panose="020F0502020204030204" pitchFamily="34" charset="0"/>
                <a:cs typeface="Calibri" panose="020F0502020204030204" pitchFamily="34" charset="0"/>
              </a:rPr>
              <a:t>ikipedia data.</a:t>
            </a:r>
          </a:p>
          <a:p>
            <a:pPr marL="685800" lvl="1" indent="-228600">
              <a:lnSpc>
                <a:spcPct val="95000"/>
              </a:lnSpc>
              <a:spcBef>
                <a:spcPts val="0"/>
              </a:spcBef>
              <a:buSzPts val="523"/>
              <a:buFont typeface="Wingdings" pitchFamily="2" charset="2"/>
              <a:buChar char="v"/>
            </a:pPr>
            <a:r>
              <a:rPr lang="en-US" sz="750" i="0" dirty="0">
                <a:solidFill>
                  <a:schemeClr val="tx1"/>
                </a:solidFill>
                <a:effectLst/>
                <a:latin typeface="Calibri" panose="020F0502020204030204" pitchFamily="34" charset="0"/>
                <a:cs typeface="Calibri" panose="020F0502020204030204" pitchFamily="34" charset="0"/>
              </a:rPr>
              <a:t>Literature insight: Importance of diverse, authoritative data sources.</a:t>
            </a:r>
          </a:p>
          <a:p>
            <a:pPr marL="0" lvl="0" indent="0" rtl="0">
              <a:lnSpc>
                <a:spcPct val="95000"/>
              </a:lnSpc>
              <a:spcBef>
                <a:spcPts val="0"/>
              </a:spcBef>
              <a:spcAft>
                <a:spcPts val="0"/>
              </a:spcAft>
              <a:buClr>
                <a:schemeClr val="dk1"/>
              </a:buClr>
              <a:buSzPts val="523"/>
              <a:buNone/>
            </a:pPr>
            <a:endParaRPr lang="en-US" sz="1050" dirty="0">
              <a:solidFill>
                <a:schemeClr val="tx1"/>
              </a:solidFill>
              <a:latin typeface="Calibri" panose="020F0502020204030204" pitchFamily="34" charset="0"/>
              <a:cs typeface="Calibri" panose="020F0502020204030204" pitchFamily="34" charset="0"/>
            </a:endParaRPr>
          </a:p>
          <a:p>
            <a:pPr marL="228600" lvl="0" indent="-228600" rtl="0">
              <a:lnSpc>
                <a:spcPct val="95000"/>
              </a:lnSpc>
              <a:spcBef>
                <a:spcPts val="0"/>
              </a:spcBef>
              <a:spcAft>
                <a:spcPts val="0"/>
              </a:spcAft>
              <a:buClr>
                <a:schemeClr val="dk1"/>
              </a:buClr>
              <a:buSzPts val="523"/>
              <a:buFont typeface="Wingdings" pitchFamily="2" charset="2"/>
              <a:buChar char="v"/>
            </a:pPr>
            <a:r>
              <a:rPr lang="en-US" sz="1050" i="0" dirty="0">
                <a:solidFill>
                  <a:schemeClr val="tx1"/>
                </a:solidFill>
                <a:effectLst/>
                <a:latin typeface="Calibri" panose="020F0502020204030204" pitchFamily="34" charset="0"/>
                <a:cs typeface="Calibri" panose="020F0502020204030204" pitchFamily="34" charset="0"/>
              </a:rPr>
              <a:t>Overall impact:</a:t>
            </a:r>
          </a:p>
          <a:p>
            <a:pPr marL="685800" lvl="1" indent="-228600">
              <a:lnSpc>
                <a:spcPct val="95000"/>
              </a:lnSpc>
              <a:spcBef>
                <a:spcPts val="0"/>
              </a:spcBef>
              <a:buSzPts val="523"/>
              <a:buFont typeface="Wingdings" pitchFamily="2" charset="2"/>
              <a:buChar char="v"/>
            </a:pPr>
            <a:r>
              <a:rPr lang="en-US" sz="750" i="0" dirty="0">
                <a:solidFill>
                  <a:schemeClr val="tx1"/>
                </a:solidFill>
                <a:effectLst/>
                <a:latin typeface="Calibri" panose="020F0502020204030204" pitchFamily="34" charset="0"/>
                <a:cs typeface="Calibri" panose="020F0502020204030204" pitchFamily="34" charset="0"/>
              </a:rPr>
              <a:t>A robust and versatile chatbot capable of handling a wide array of medical queries, 24/7 accessibility, enhancing information dissemination in healthcare.</a:t>
            </a:r>
          </a:p>
          <a:p>
            <a:pPr marL="685800" lvl="1" indent="-228600">
              <a:lnSpc>
                <a:spcPct val="95000"/>
              </a:lnSpc>
              <a:spcBef>
                <a:spcPts val="0"/>
              </a:spcBef>
              <a:buSzPts val="523"/>
              <a:buFont typeface="Wingdings" pitchFamily="2" charset="2"/>
              <a:buChar char="v"/>
            </a:pPr>
            <a:r>
              <a:rPr lang="en-US" sz="750" i="0" dirty="0">
                <a:solidFill>
                  <a:schemeClr val="tx1"/>
                </a:solidFill>
                <a:effectLst/>
                <a:latin typeface="Calibri" panose="020F0502020204030204" pitchFamily="34" charset="0"/>
                <a:cs typeface="Calibri" panose="020F0502020204030204" pitchFamily="34" charset="0"/>
              </a:rPr>
              <a:t>Balances technical complexities with the need for comprehensive, accurate medical information.</a:t>
            </a:r>
          </a:p>
          <a:p>
            <a:pPr marL="228600" lvl="0" indent="-228600" rtl="0">
              <a:lnSpc>
                <a:spcPct val="95000"/>
              </a:lnSpc>
              <a:spcBef>
                <a:spcPts val="0"/>
              </a:spcBef>
              <a:spcAft>
                <a:spcPts val="0"/>
              </a:spcAft>
              <a:buClr>
                <a:schemeClr val="dk1"/>
              </a:buClr>
              <a:buSzPts val="523"/>
              <a:buFont typeface="Wingdings" pitchFamily="2" charset="2"/>
              <a:buChar char="v"/>
            </a:pPr>
            <a:endParaRPr lang="en-US" sz="1050" dirty="0">
              <a:solidFill>
                <a:schemeClr val="tx1"/>
              </a:solidFill>
              <a:latin typeface="Calibri" panose="020F0502020204030204" pitchFamily="34" charset="0"/>
              <a:cs typeface="Calibri" panose="020F0502020204030204" pitchFamily="34" charset="0"/>
            </a:endParaRPr>
          </a:p>
          <a:p>
            <a:pPr marL="228600" lvl="0" indent="-228600" rtl="0">
              <a:lnSpc>
                <a:spcPct val="95000"/>
              </a:lnSpc>
              <a:spcBef>
                <a:spcPts val="0"/>
              </a:spcBef>
              <a:spcAft>
                <a:spcPts val="0"/>
              </a:spcAft>
              <a:buClr>
                <a:schemeClr val="dk1"/>
              </a:buClr>
              <a:buSzPts val="523"/>
              <a:buFont typeface="Wingdings" pitchFamily="2" charset="2"/>
              <a:buChar char="v"/>
            </a:pPr>
            <a:r>
              <a:rPr lang="en-US" sz="1050" i="0" dirty="0">
                <a:solidFill>
                  <a:schemeClr val="tx1"/>
                </a:solidFill>
                <a:effectLst/>
                <a:latin typeface="Calibri" panose="020F0502020204030204" pitchFamily="34" charset="0"/>
                <a:cs typeface="Calibri" panose="020F0502020204030204" pitchFamily="34" charset="0"/>
              </a:rPr>
              <a:t>Future directions:</a:t>
            </a:r>
          </a:p>
          <a:p>
            <a:pPr marL="685800" lvl="1" indent="-228600">
              <a:lnSpc>
                <a:spcPct val="95000"/>
              </a:lnSpc>
              <a:spcBef>
                <a:spcPts val="0"/>
              </a:spcBef>
              <a:buSzPts val="523"/>
              <a:buFont typeface="Wingdings" pitchFamily="2" charset="2"/>
              <a:buChar char="v"/>
            </a:pPr>
            <a:r>
              <a:rPr lang="en-US" sz="750" i="0" dirty="0">
                <a:solidFill>
                  <a:schemeClr val="tx1"/>
                </a:solidFill>
                <a:effectLst/>
                <a:latin typeface="Calibri" panose="020F0502020204030204" pitchFamily="34" charset="0"/>
                <a:cs typeface="Calibri" panose="020F0502020204030204" pitchFamily="34" charset="0"/>
              </a:rPr>
              <a:t>Continual model enhancement, dynamic data integration, focus on improving efficiency and inclusivity of information sources.</a:t>
            </a:r>
          </a:p>
          <a:p>
            <a:pPr marL="171450" lvl="0" indent="-171450" rtl="0">
              <a:lnSpc>
                <a:spcPct val="95000"/>
              </a:lnSpc>
              <a:spcBef>
                <a:spcPts val="0"/>
              </a:spcBef>
              <a:spcAft>
                <a:spcPts val="0"/>
              </a:spcAft>
              <a:buClr>
                <a:schemeClr val="dk1"/>
              </a:buClr>
              <a:buSzPts val="523"/>
              <a:buFont typeface="Wingdings" pitchFamily="2" charset="2"/>
              <a:buChar char="v"/>
            </a:pPr>
            <a:endParaRPr lang="en-US" sz="800" dirty="0">
              <a:solidFill>
                <a:schemeClr val="tx1"/>
              </a:solidFill>
              <a:latin typeface="Calibri" panose="020F0502020204030204" pitchFamily="34" charset="0"/>
              <a:cs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628650" y="74447"/>
            <a:ext cx="7886700" cy="994200"/>
          </a:xfrm>
          <a:prstGeom prst="rect">
            <a:avLst/>
          </a:prstGeom>
        </p:spPr>
        <p:txBody>
          <a:bodyPr spcFirstLastPara="1" wrap="square" lIns="68575" tIns="34275" rIns="68575" bIns="34275" anchor="ctr" anchorCtr="0">
            <a:normAutofit/>
          </a:bodyPr>
          <a:lstStyle/>
          <a:p>
            <a:pPr marL="457200" lvl="0" indent="-387350" algn="l" rtl="0">
              <a:spcBef>
                <a:spcPts val="0"/>
              </a:spcBef>
              <a:spcAft>
                <a:spcPts val="0"/>
              </a:spcAft>
              <a:buSzPts val="2500"/>
              <a:buAutoNum type="romanUcPeriod" startAt="14"/>
            </a:pPr>
            <a:r>
              <a:rPr lang="en" sz="2900"/>
              <a:t>Acknowledgements and References</a:t>
            </a:r>
            <a:endParaRPr sz="2900"/>
          </a:p>
        </p:txBody>
      </p:sp>
      <p:sp>
        <p:nvSpPr>
          <p:cNvPr id="189" name="Google Shape;189;p30"/>
          <p:cNvSpPr txBox="1">
            <a:spLocks noGrp="1"/>
          </p:cNvSpPr>
          <p:nvPr>
            <p:ph type="body" idx="1"/>
          </p:nvPr>
        </p:nvSpPr>
        <p:spPr>
          <a:xfrm>
            <a:off x="628650" y="864844"/>
            <a:ext cx="7886700" cy="3263400"/>
          </a:xfrm>
          <a:prstGeom prst="rect">
            <a:avLst/>
          </a:prstGeom>
        </p:spPr>
        <p:txBody>
          <a:bodyPr spcFirstLastPara="1" wrap="square" lIns="68575" tIns="34275" rIns="68575" bIns="34275" anchor="t" anchorCtr="0">
            <a:noAutofit/>
          </a:bodyPr>
          <a:lstStyle/>
          <a:p>
            <a:pPr marL="457200" lvl="0" indent="-285750" algn="l" rtl="0">
              <a:lnSpc>
                <a:spcPct val="115000"/>
              </a:lnSpc>
              <a:spcBef>
                <a:spcPts val="1500"/>
              </a:spcBef>
              <a:spcAft>
                <a:spcPts val="0"/>
              </a:spcAft>
              <a:buSzPts val="900"/>
              <a:buFont typeface="Calibri"/>
              <a:buAutoNum type="arabicParenR"/>
            </a:pPr>
            <a:r>
              <a:rPr lang="en" sz="900" dirty="0"/>
              <a:t>Devlin, J., Chang, M. W., Lee, K., &amp; Toutanova, K. (2018). BERT: Pre-training of Deep Bidirectional Transformers for Language Understanding. </a:t>
            </a:r>
            <a:r>
              <a:rPr lang="en" sz="900" dirty="0" err="1"/>
              <a:t>arXiv</a:t>
            </a:r>
            <a:r>
              <a:rPr lang="en" sz="900" dirty="0"/>
              <a:t> preprint arXiv:1810.04805.</a:t>
            </a:r>
            <a:endParaRPr sz="900" dirty="0"/>
          </a:p>
          <a:p>
            <a:pPr marL="457200" lvl="0" indent="-285750" algn="l" rtl="0">
              <a:lnSpc>
                <a:spcPct val="115000"/>
              </a:lnSpc>
              <a:spcBef>
                <a:spcPts val="0"/>
              </a:spcBef>
              <a:spcAft>
                <a:spcPts val="0"/>
              </a:spcAft>
              <a:buSzPts val="900"/>
              <a:buFont typeface="Calibri"/>
              <a:buAutoNum type="arabicParenR"/>
            </a:pPr>
            <a:r>
              <a:rPr lang="en" sz="900" dirty="0"/>
              <a:t>Lee, J., Yoon, W., Kim, S., Kim, D., Kim, S., So, C. H., &amp; Kang, J. (2019). BioBERT: a pre-trained biomedical language representation model for biomedical text mining. Bioinformatics, 36(4), 1234-1240.</a:t>
            </a:r>
            <a:endParaRPr sz="900" dirty="0"/>
          </a:p>
          <a:p>
            <a:pPr marL="457200" lvl="0" indent="-285750" algn="l" rtl="0">
              <a:lnSpc>
                <a:spcPct val="115000"/>
              </a:lnSpc>
              <a:spcBef>
                <a:spcPts val="0"/>
              </a:spcBef>
              <a:spcAft>
                <a:spcPts val="0"/>
              </a:spcAft>
              <a:buSzPts val="900"/>
              <a:buFont typeface="Calibri"/>
              <a:buAutoNum type="arabicParenR"/>
            </a:pPr>
            <a:r>
              <a:rPr lang="en" sz="900" dirty="0" err="1"/>
              <a:t>Rajpurkar</a:t>
            </a:r>
            <a:r>
              <a:rPr lang="en" sz="900" dirty="0"/>
              <a:t>, P., Jia, R., </a:t>
            </a:r>
            <a:r>
              <a:rPr lang="en" sz="900" dirty="0" err="1"/>
              <a:t>Lopyrev</a:t>
            </a:r>
            <a:r>
              <a:rPr lang="en" sz="900" dirty="0"/>
              <a:t>, K., &amp; Liang, P. (2016). </a:t>
            </a:r>
            <a:r>
              <a:rPr lang="en" sz="900" dirty="0" err="1"/>
              <a:t>SQuAD</a:t>
            </a:r>
            <a:r>
              <a:rPr lang="en" sz="900" dirty="0"/>
              <a:t>: 100,000+ Questions for Machine Comprehension of Text. </a:t>
            </a:r>
            <a:r>
              <a:rPr lang="en" sz="900" dirty="0" err="1"/>
              <a:t>arXiv</a:t>
            </a:r>
            <a:r>
              <a:rPr lang="en" sz="900" dirty="0"/>
              <a:t> preprint arXiv:1606.05250.</a:t>
            </a:r>
            <a:endParaRPr sz="900" dirty="0"/>
          </a:p>
          <a:p>
            <a:pPr marL="457200" lvl="0" indent="-285750" algn="l" rtl="0">
              <a:lnSpc>
                <a:spcPct val="115000"/>
              </a:lnSpc>
              <a:spcBef>
                <a:spcPts val="0"/>
              </a:spcBef>
              <a:spcAft>
                <a:spcPts val="0"/>
              </a:spcAft>
              <a:buSzPts val="900"/>
              <a:buFont typeface="Calibri"/>
              <a:buAutoNum type="arabicParenR"/>
            </a:pPr>
            <a:r>
              <a:rPr lang="en" sz="900" dirty="0"/>
              <a:t>Wolf, T., Debut, L., </a:t>
            </a:r>
            <a:r>
              <a:rPr lang="en" sz="900" dirty="0" err="1"/>
              <a:t>Sanh</a:t>
            </a:r>
            <a:r>
              <a:rPr lang="en" sz="900" dirty="0"/>
              <a:t>, V., </a:t>
            </a:r>
            <a:r>
              <a:rPr lang="en" sz="900" dirty="0" err="1"/>
              <a:t>Chaumond</a:t>
            </a:r>
            <a:r>
              <a:rPr lang="en" sz="900" dirty="0"/>
              <a:t>, J., </a:t>
            </a:r>
            <a:r>
              <a:rPr lang="en" sz="900" dirty="0" err="1"/>
              <a:t>Delangue</a:t>
            </a:r>
            <a:r>
              <a:rPr lang="en" sz="900" dirty="0"/>
              <a:t>, C., Moi, A., ... &amp; Rush, A. M. (2019). </a:t>
            </a:r>
            <a:r>
              <a:rPr lang="en" sz="900" dirty="0" err="1"/>
              <a:t>HuggingFace's</a:t>
            </a:r>
            <a:r>
              <a:rPr lang="en" sz="900" dirty="0"/>
              <a:t> Transformers: State-of-the-art Natural Language Processing. </a:t>
            </a:r>
            <a:r>
              <a:rPr lang="en" sz="900" dirty="0" err="1"/>
              <a:t>arXiv</a:t>
            </a:r>
            <a:r>
              <a:rPr lang="en" sz="900" dirty="0"/>
              <a:t> preprint arXiv:1910.03771.</a:t>
            </a:r>
            <a:endParaRPr sz="900" dirty="0"/>
          </a:p>
          <a:p>
            <a:pPr marL="457200" lvl="0" indent="-285750" algn="l" rtl="0">
              <a:lnSpc>
                <a:spcPct val="115000"/>
              </a:lnSpc>
              <a:spcBef>
                <a:spcPts val="0"/>
              </a:spcBef>
              <a:spcAft>
                <a:spcPts val="0"/>
              </a:spcAft>
              <a:buSzPts val="900"/>
              <a:buFont typeface="Calibri"/>
              <a:buAutoNum type="arabicParenR"/>
            </a:pPr>
            <a:r>
              <a:rPr lang="en" sz="900" dirty="0" err="1"/>
              <a:t>Tsatsaronis</a:t>
            </a:r>
            <a:r>
              <a:rPr lang="en" sz="900" dirty="0"/>
              <a:t>, G., </a:t>
            </a:r>
            <a:r>
              <a:rPr lang="en" sz="900" dirty="0" err="1"/>
              <a:t>Balikas</a:t>
            </a:r>
            <a:r>
              <a:rPr lang="en" sz="900" dirty="0"/>
              <a:t>, G., </a:t>
            </a:r>
            <a:r>
              <a:rPr lang="en" sz="900" dirty="0" err="1"/>
              <a:t>Malakasiotis</a:t>
            </a:r>
            <a:r>
              <a:rPr lang="en" sz="900" dirty="0"/>
              <a:t>, P., </a:t>
            </a:r>
            <a:r>
              <a:rPr lang="en" sz="900" dirty="0" err="1"/>
              <a:t>Partalas</a:t>
            </a:r>
            <a:r>
              <a:rPr lang="en" sz="900" dirty="0"/>
              <a:t>, I., </a:t>
            </a:r>
            <a:r>
              <a:rPr lang="en" sz="900" dirty="0" err="1"/>
              <a:t>Zschunke</a:t>
            </a:r>
            <a:r>
              <a:rPr lang="en" sz="900" dirty="0"/>
              <a:t>, M., </a:t>
            </a:r>
            <a:r>
              <a:rPr lang="en" sz="900" dirty="0" err="1"/>
              <a:t>Alvers</a:t>
            </a:r>
            <a:r>
              <a:rPr lang="en" sz="900" dirty="0"/>
              <a:t>, M. R., ... &amp; </a:t>
            </a:r>
            <a:r>
              <a:rPr lang="en" sz="900" dirty="0" err="1"/>
              <a:t>Krithara</a:t>
            </a:r>
            <a:r>
              <a:rPr lang="en" sz="900" dirty="0"/>
              <a:t>, A. (2015). An overview of the BIOASQ large-scale biomedical semantic indexing and question answering competition. BMC Bioinformatics, 16(1), 1-28.</a:t>
            </a:r>
            <a:endParaRPr sz="900" dirty="0"/>
          </a:p>
          <a:p>
            <a:pPr marL="457200" lvl="0" indent="-285750" algn="l" rtl="0">
              <a:lnSpc>
                <a:spcPct val="115000"/>
              </a:lnSpc>
              <a:spcBef>
                <a:spcPts val="0"/>
              </a:spcBef>
              <a:spcAft>
                <a:spcPts val="0"/>
              </a:spcAft>
              <a:buSzPts val="900"/>
              <a:buFont typeface="Calibri"/>
              <a:buAutoNum type="arabicParenR"/>
            </a:pPr>
            <a:r>
              <a:rPr lang="en" sz="900" dirty="0"/>
              <a:t>Jiang, M., Chen, Y., Liu, M., Rosenbloom, S. T., Mani, S., Denny, J. C., &amp; Xu, H. (2017). A study of machine-learning-based approaches to extract clinical entities and their assertions from discharge summaries. Journal of the American Medical Informatics Association, 18(5), 601-606.</a:t>
            </a:r>
            <a:endParaRPr sz="900" dirty="0"/>
          </a:p>
          <a:p>
            <a:pPr marL="457200" lvl="0" indent="-285750" algn="l" rtl="0">
              <a:lnSpc>
                <a:spcPct val="115000"/>
              </a:lnSpc>
              <a:spcBef>
                <a:spcPts val="0"/>
              </a:spcBef>
              <a:spcAft>
                <a:spcPts val="0"/>
              </a:spcAft>
              <a:buSzPts val="900"/>
              <a:buFont typeface="Calibri"/>
              <a:buAutoNum type="arabicParenR"/>
            </a:pPr>
            <a:r>
              <a:rPr lang="en" sz="900" dirty="0"/>
              <a:t>Roberts, K., </a:t>
            </a:r>
            <a:r>
              <a:rPr lang="en" sz="900" dirty="0" err="1"/>
              <a:t>Demner-Fushman</a:t>
            </a:r>
            <a:r>
              <a:rPr lang="en" sz="900" dirty="0"/>
              <a:t>, D., &amp; Voorhees, E. M. (2020). Overview of the TREC 2019 Precision Medicine Track. In TREC.</a:t>
            </a:r>
            <a:endParaRPr sz="900" dirty="0"/>
          </a:p>
          <a:p>
            <a:pPr marL="457200" lvl="0" indent="-285750" algn="l" rtl="0">
              <a:lnSpc>
                <a:spcPct val="115000"/>
              </a:lnSpc>
              <a:spcBef>
                <a:spcPts val="0"/>
              </a:spcBef>
              <a:spcAft>
                <a:spcPts val="0"/>
              </a:spcAft>
              <a:buSzPts val="900"/>
              <a:buFont typeface="Calibri"/>
              <a:buAutoNum type="arabicParenR"/>
            </a:pPr>
            <a:r>
              <a:rPr lang="en" sz="900" dirty="0" err="1"/>
              <a:t>Nentidis</a:t>
            </a:r>
            <a:r>
              <a:rPr lang="en" sz="900" dirty="0"/>
              <a:t>, A., </a:t>
            </a:r>
            <a:r>
              <a:rPr lang="en" sz="900" dirty="0" err="1"/>
              <a:t>Krithara</a:t>
            </a:r>
            <a:r>
              <a:rPr lang="en" sz="900" dirty="0"/>
              <a:t>, A., </a:t>
            </a:r>
            <a:r>
              <a:rPr lang="en" sz="900" dirty="0" err="1"/>
              <a:t>Bougiatiotis</a:t>
            </a:r>
            <a:r>
              <a:rPr lang="en" sz="900" dirty="0"/>
              <a:t>, K., </a:t>
            </a:r>
            <a:r>
              <a:rPr lang="en" sz="900" dirty="0" err="1"/>
              <a:t>Paliouras</a:t>
            </a:r>
            <a:r>
              <a:rPr lang="en" sz="900" dirty="0"/>
              <a:t>, G., &amp; </a:t>
            </a:r>
            <a:r>
              <a:rPr lang="en" sz="900" dirty="0" err="1"/>
              <a:t>Kakadiaris</a:t>
            </a:r>
            <a:r>
              <a:rPr lang="en" sz="900" dirty="0"/>
              <a:t>, I. A. (2019). Results of the BioASQ Track of the Question Answering Lab at CLEF 2019. In CLEF (Working Notes).</a:t>
            </a:r>
            <a:endParaRPr sz="900" dirty="0"/>
          </a:p>
          <a:p>
            <a:pPr marL="457200" lvl="0" indent="-285750" algn="l" rtl="0">
              <a:lnSpc>
                <a:spcPct val="115000"/>
              </a:lnSpc>
              <a:spcBef>
                <a:spcPts val="0"/>
              </a:spcBef>
              <a:spcAft>
                <a:spcPts val="0"/>
              </a:spcAft>
              <a:buSzPts val="900"/>
              <a:buFont typeface="Calibri"/>
              <a:buAutoNum type="arabicParenR"/>
            </a:pPr>
            <a:r>
              <a:rPr lang="en" sz="900" dirty="0"/>
              <a:t>Lee, J., Yoon, W., Kim, S., Kim, D., Kim, S., So, C. H., &amp; Kang, J. (2019). BioBERT: a pre-trained biomedical language representation model for biomedical text mining. Bioinformatics, 36(4), 1234-1240.</a:t>
            </a:r>
            <a:endParaRPr sz="900" dirty="0"/>
          </a:p>
          <a:p>
            <a:pPr marL="457200" lvl="0" indent="-285750" algn="l" rtl="0">
              <a:lnSpc>
                <a:spcPct val="115000"/>
              </a:lnSpc>
              <a:spcBef>
                <a:spcPts val="0"/>
              </a:spcBef>
              <a:spcAft>
                <a:spcPts val="0"/>
              </a:spcAft>
              <a:buSzPts val="900"/>
              <a:buFont typeface="Calibri"/>
              <a:buAutoNum type="arabicParenR"/>
            </a:pPr>
            <a:r>
              <a:rPr lang="en" sz="900" dirty="0"/>
              <a:t>Devlin, J., Chang, M. W., Lee, K., &amp; Toutanova, K. (2019). BERT: Pre-training of Deep Bidirectional Transformers for Language Understanding. In Proceedings of the 2019 Conference of the North American Chapter of the Association for Computational Linguistics: Human Language Technologies, Volume 1 (Long and Short Papers) (pp. 4171-4186).</a:t>
            </a:r>
            <a:endParaRPr sz="900" dirty="0"/>
          </a:p>
          <a:p>
            <a:pPr marL="457200" lvl="0" indent="0" algn="l" rtl="0">
              <a:spcBef>
                <a:spcPts val="1500"/>
              </a:spcBef>
              <a:spcAft>
                <a:spcPts val="0"/>
              </a:spcAft>
              <a:buNone/>
            </a:pPr>
            <a:endParaRPr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1"/>
          <p:cNvSpPr txBox="1">
            <a:spLocks noGrp="1"/>
          </p:cNvSpPr>
          <p:nvPr>
            <p:ph type="title"/>
          </p:nvPr>
        </p:nvSpPr>
        <p:spPr>
          <a:xfrm>
            <a:off x="628650" y="273860"/>
            <a:ext cx="7886700" cy="3933900"/>
          </a:xfrm>
          <a:prstGeom prst="rect">
            <a:avLst/>
          </a:prstGeom>
        </p:spPr>
        <p:txBody>
          <a:bodyPr spcFirstLastPara="1" wrap="square" lIns="68575" tIns="34275" rIns="68575" bIns="34275" anchor="ctr" anchorCtr="0">
            <a:normAutofit/>
          </a:bodyPr>
          <a:lstStyle/>
          <a:p>
            <a:pPr marL="0" lvl="0" indent="0" algn="ctr" rtl="0">
              <a:spcBef>
                <a:spcPts val="0"/>
              </a:spcBef>
              <a:spcAft>
                <a:spcPts val="0"/>
              </a:spcAft>
              <a:buNone/>
            </a:pPr>
            <a:r>
              <a:rPr lang="en" sz="5600" b="1"/>
              <a:t>Thank You</a:t>
            </a:r>
            <a:r>
              <a:rPr lang="en"/>
              <a:t> </a:t>
            </a:r>
            <a:endParaRPr/>
          </a:p>
          <a:p>
            <a:pPr marL="0" lvl="0" indent="0" algn="ctr" rtl="0">
              <a:spcBef>
                <a:spcPts val="0"/>
              </a:spcBef>
              <a:spcAft>
                <a:spcPts val="0"/>
              </a:spcAft>
              <a:buNone/>
            </a:pPr>
            <a:endParaRPr/>
          </a:p>
          <a:p>
            <a:pPr marL="0" lvl="0" indent="0" algn="ctr" rtl="0">
              <a:spcBef>
                <a:spcPts val="0"/>
              </a:spcBef>
              <a:spcAft>
                <a:spcPts val="0"/>
              </a:spcAft>
              <a:buNone/>
            </a:pPr>
            <a:r>
              <a:rPr lang="en"/>
              <a:t>Q/A Session</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360</TotalTime>
  <Words>8046</Words>
  <Application>Microsoft Macintosh PowerPoint</Application>
  <PresentationFormat>On-screen Show (16:9)</PresentationFormat>
  <Paragraphs>339</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Wingdings</vt:lpstr>
      <vt:lpstr>Office Theme</vt:lpstr>
      <vt:lpstr>NLP Chatbot (Question-Answering)  Using Transformer</vt:lpstr>
      <vt:lpstr>Agenda</vt:lpstr>
      <vt:lpstr>Introduction to Chatbot:</vt:lpstr>
      <vt:lpstr>Datasets:</vt:lpstr>
      <vt:lpstr>BioASQ Dataset:</vt:lpstr>
      <vt:lpstr>PowerPoint Presentation</vt:lpstr>
      <vt:lpstr>Domain Specific PDF Datasets:</vt:lpstr>
      <vt:lpstr>Transfer Model Selection</vt:lpstr>
      <vt:lpstr>BERT VS. BioBERT Model</vt:lpstr>
      <vt:lpstr>Overview of Approach for Medical NLP Chatbot</vt:lpstr>
      <vt:lpstr>Domain Specific Data Handling:</vt:lpstr>
      <vt:lpstr>Utilizing SQUAD Dataset &amp; BERT Model:</vt:lpstr>
      <vt:lpstr>Incorporating Wikipedia:</vt:lpstr>
      <vt:lpstr>Extractive vs. Generative Chatbots</vt:lpstr>
      <vt:lpstr>Cost Effectiveness of BERT model</vt:lpstr>
      <vt:lpstr>Technical Challenges and Solutions</vt:lpstr>
      <vt:lpstr>Future Enhancement</vt:lpstr>
      <vt:lpstr>Conclusion:</vt:lpstr>
      <vt:lpstr>Acknowledgements and References</vt:lpstr>
      <vt:lpstr>Thank You   Q/A Session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NLP Chatbot (Question-Answering)  Using Transformer</dc:title>
  <cp:lastModifiedBy>Anika Tasnim</cp:lastModifiedBy>
  <cp:revision>8</cp:revision>
  <dcterms:modified xsi:type="dcterms:W3CDTF">2023-12-06T17:03:26Z</dcterms:modified>
</cp:coreProperties>
</file>